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57" r:id="rId3"/>
    <p:sldId id="258" r:id="rId4"/>
    <p:sldId id="261" r:id="rId5"/>
    <p:sldId id="259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AE7E1385-5E35-4223-A47A-7E049B55AF22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1A2612D-E3DF-4F2C-8645-0ADEB046DC70}" type="slidenum">
              <a:rPr lang="it-IT" smtClean="0"/>
              <a:t>‹N›</a:t>
            </a:fld>
            <a:endParaRPr lang="it-IT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2611291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1385-5E35-4223-A47A-7E049B55AF22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2612D-E3DF-4F2C-8645-0ADEB046DC7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5771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7E1385-5E35-4223-A47A-7E049B55AF22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1A2612D-E3DF-4F2C-8645-0ADEB046DC70}" type="slidenum">
              <a:rPr lang="it-IT" smtClean="0"/>
              <a:t>‹N›</a:t>
            </a:fld>
            <a:endParaRPr lang="it-IT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0342102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1385-5E35-4223-A47A-7E049B55AF22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2612D-E3DF-4F2C-8645-0ADEB046DC7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58185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1385-5E35-4223-A47A-7E049B55AF22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2612D-E3DF-4F2C-8645-0ADEB046DC7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902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1385-5E35-4223-A47A-7E049B55AF22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2612D-E3DF-4F2C-8645-0ADEB046DC7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8471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1385-5E35-4223-A47A-7E049B55AF22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2612D-E3DF-4F2C-8645-0ADEB046DC7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127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7E1385-5E35-4223-A47A-7E049B55AF22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1A2612D-E3DF-4F2C-8645-0ADEB046DC70}" type="slidenum">
              <a:rPr lang="it-IT" smtClean="0"/>
              <a:t>‹N›</a:t>
            </a:fld>
            <a:endParaRPr lang="it-IT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4813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7E1385-5E35-4223-A47A-7E049B55AF22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1A2612D-E3DF-4F2C-8645-0ADEB046DC70}" type="slidenum">
              <a:rPr lang="it-IT" smtClean="0"/>
              <a:t>‹N›</a:t>
            </a:fld>
            <a:endParaRPr lang="it-IT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08526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1385-5E35-4223-A47A-7E049B55AF22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2612D-E3DF-4F2C-8645-0ADEB046DC7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57308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1385-5E35-4223-A47A-7E049B55AF22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2612D-E3DF-4F2C-8645-0ADEB046DC7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3224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AE7E1385-5E35-4223-A47A-7E049B55AF22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1A2612D-E3DF-4F2C-8645-0ADEB046DC70}" type="slidenum">
              <a:rPr lang="it-IT" smtClean="0"/>
              <a:t>‹N›</a:t>
            </a:fld>
            <a:endParaRPr lang="it-IT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46730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arclova/Big_Data_RAG_Project.gi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D1604059-0EA6-8B4D-722E-CDF0129776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by Cocilova Marco</a:t>
            </a:r>
          </a:p>
          <a:p>
            <a:endParaRPr lang="it-IT" dirty="0"/>
          </a:p>
          <a:p>
            <a:r>
              <a:rPr lang="it-IT" sz="1500" dirty="0"/>
              <a:t>GitHub </a:t>
            </a:r>
            <a:r>
              <a:rPr lang="it-IT" sz="1500" dirty="0" err="1"/>
              <a:t>reference</a:t>
            </a:r>
            <a:r>
              <a:rPr lang="it-IT" sz="1500" dirty="0"/>
              <a:t>: </a:t>
            </a:r>
            <a:r>
              <a:rPr lang="it-IT" sz="1500" u="sng" dirty="0">
                <a:hlinkClick r:id="rId2"/>
              </a:rPr>
              <a:t>https://github.com/Marclova/Big_Data_RAG_Project.git</a:t>
            </a:r>
            <a:endParaRPr lang="it-IT" sz="1500" u="sng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141F614-7DF5-E3CB-2339-DC3F1DADB428}"/>
              </a:ext>
            </a:extLst>
          </p:cNvPr>
          <p:cNvSpPr txBox="1"/>
          <p:nvPr/>
        </p:nvSpPr>
        <p:spPr>
          <a:xfrm>
            <a:off x="3363616" y="2239346"/>
            <a:ext cx="5464252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5000" dirty="0"/>
              <a:t>RAG System project</a:t>
            </a:r>
          </a:p>
          <a:p>
            <a:pPr algn="ctr"/>
            <a:endParaRPr lang="it-IT" sz="5000" dirty="0"/>
          </a:p>
        </p:txBody>
      </p:sp>
    </p:spTree>
    <p:extLst>
      <p:ext uri="{BB962C8B-B14F-4D97-AF65-F5344CB8AC3E}">
        <p14:creationId xmlns:p14="http://schemas.microsoft.com/office/powerpoint/2010/main" val="3943773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57573FC9-FB3A-9ACE-6DDA-C07D0804A7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452" y="958725"/>
            <a:ext cx="9458602" cy="5915529"/>
          </a:xfrm>
          <a:prstGeom prst="rect">
            <a:avLst/>
          </a:prstGeom>
        </p:spPr>
      </p:pic>
      <p:sp>
        <p:nvSpPr>
          <p:cNvPr id="78" name="Rettangolo 77">
            <a:extLst>
              <a:ext uri="{FF2B5EF4-FFF2-40B4-BE49-F238E27FC236}">
                <a16:creationId xmlns:a16="http://schemas.microsoft.com/office/drawing/2014/main" id="{F9327E25-9DB8-72AA-E1F0-CCACD8BC3E82}"/>
              </a:ext>
            </a:extLst>
          </p:cNvPr>
          <p:cNvSpPr/>
          <p:nvPr/>
        </p:nvSpPr>
        <p:spPr>
          <a:xfrm rot="5400000">
            <a:off x="6349099" y="-4884178"/>
            <a:ext cx="212257" cy="1147354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5" name="Rettangolo 74">
            <a:extLst>
              <a:ext uri="{FF2B5EF4-FFF2-40B4-BE49-F238E27FC236}">
                <a16:creationId xmlns:a16="http://schemas.microsoft.com/office/drawing/2014/main" id="{13EF87A4-2D0B-341E-4C52-5E8D97D5A955}"/>
              </a:ext>
            </a:extLst>
          </p:cNvPr>
          <p:cNvSpPr/>
          <p:nvPr/>
        </p:nvSpPr>
        <p:spPr>
          <a:xfrm>
            <a:off x="614586" y="5845"/>
            <a:ext cx="8405699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it-IT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Project </a:t>
            </a:r>
            <a:r>
              <a:rPr lang="it-IT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structure</a:t>
            </a:r>
            <a:r>
              <a:rPr lang="it-IT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: </a:t>
            </a:r>
            <a:r>
              <a:rPr lang="it-IT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dependencies</a:t>
            </a:r>
            <a:endParaRPr lang="it-IT" sz="4800" b="1" cap="none" spc="0" dirty="0">
              <a:ln/>
              <a:solidFill>
                <a:schemeClr val="accent4"/>
              </a:solidFill>
              <a:effectLst/>
            </a:endParaRPr>
          </a:p>
        </p:txBody>
      </p:sp>
      <p:sp>
        <p:nvSpPr>
          <p:cNvPr id="79" name="Rettangolo 78">
            <a:extLst>
              <a:ext uri="{FF2B5EF4-FFF2-40B4-BE49-F238E27FC236}">
                <a16:creationId xmlns:a16="http://schemas.microsoft.com/office/drawing/2014/main" id="{955D73D8-32E1-C7B7-4EE8-1994A137B36A}"/>
              </a:ext>
            </a:extLst>
          </p:cNvPr>
          <p:cNvSpPr/>
          <p:nvPr/>
        </p:nvSpPr>
        <p:spPr>
          <a:xfrm>
            <a:off x="10177054" y="958725"/>
            <a:ext cx="219109" cy="589927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F914591E-B28D-35CA-08A9-2615311BB646}"/>
              </a:ext>
            </a:extLst>
          </p:cNvPr>
          <p:cNvSpPr/>
          <p:nvPr/>
        </p:nvSpPr>
        <p:spPr>
          <a:xfrm>
            <a:off x="480060" y="0"/>
            <a:ext cx="244081" cy="685800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6423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F80C791F-D772-3D90-D586-DFAAF63C02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455" y="958725"/>
            <a:ext cx="8438647" cy="5903844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354F3CE0-92A5-6522-D5D3-44AF4D37063F}"/>
              </a:ext>
            </a:extLst>
          </p:cNvPr>
          <p:cNvSpPr/>
          <p:nvPr/>
        </p:nvSpPr>
        <p:spPr>
          <a:xfrm>
            <a:off x="9157102" y="954157"/>
            <a:ext cx="219109" cy="59038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001896A9-55CB-ED37-8058-266E60FCA124}"/>
              </a:ext>
            </a:extLst>
          </p:cNvPr>
          <p:cNvSpPr/>
          <p:nvPr/>
        </p:nvSpPr>
        <p:spPr>
          <a:xfrm rot="5400000">
            <a:off x="6349100" y="-4884178"/>
            <a:ext cx="212256" cy="1147354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BCDE6B68-DFD9-829C-4A96-A687A702C1DF}"/>
              </a:ext>
            </a:extLst>
          </p:cNvPr>
          <p:cNvSpPr/>
          <p:nvPr/>
        </p:nvSpPr>
        <p:spPr>
          <a:xfrm>
            <a:off x="614586" y="5845"/>
            <a:ext cx="8162043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it-IT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Project </a:t>
            </a:r>
            <a:r>
              <a:rPr lang="it-IT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structure</a:t>
            </a:r>
            <a:r>
              <a:rPr lang="it-IT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: </a:t>
            </a:r>
            <a:r>
              <a:rPr lang="it-IT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initializations</a:t>
            </a:r>
            <a:endParaRPr lang="it-IT" sz="4800" b="1" cap="none" spc="0" dirty="0">
              <a:ln/>
              <a:solidFill>
                <a:schemeClr val="accent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74118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5D45B5A3-A251-2179-A96D-1D563EA7787F}"/>
              </a:ext>
            </a:extLst>
          </p:cNvPr>
          <p:cNvSpPr txBox="1"/>
          <p:nvPr/>
        </p:nvSpPr>
        <p:spPr>
          <a:xfrm>
            <a:off x="8483319" y="3534874"/>
            <a:ext cx="18295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 err="1"/>
              <a:t>insert</a:t>
            </a:r>
            <a:r>
              <a:rPr lang="it-IT" sz="1200" dirty="0"/>
              <a:t> </a:t>
            </a:r>
            <a:r>
              <a:rPr lang="it-IT" sz="1200" dirty="0" err="1"/>
              <a:t>into</a:t>
            </a:r>
            <a:r>
              <a:rPr lang="it-IT" sz="1200" dirty="0"/>
              <a:t> </a:t>
            </a:r>
            <a:r>
              <a:rPr lang="it-IT" sz="1200" dirty="0" err="1"/>
              <a:t>candidates</a:t>
            </a:r>
            <a:r>
              <a:rPr lang="it-IT" sz="1200" dirty="0"/>
              <a:t> list</a:t>
            </a:r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5BD87AF1-587F-BB9E-2525-18B53094DE93}"/>
              </a:ext>
            </a:extLst>
          </p:cNvPr>
          <p:cNvGrpSpPr/>
          <p:nvPr/>
        </p:nvGrpSpPr>
        <p:grpSpPr>
          <a:xfrm>
            <a:off x="1660846" y="1614200"/>
            <a:ext cx="622665" cy="4739120"/>
            <a:chOff x="718454" y="466531"/>
            <a:chExt cx="622665" cy="4739120"/>
          </a:xfrm>
        </p:grpSpPr>
        <p:grpSp>
          <p:nvGrpSpPr>
            <p:cNvPr id="6" name="Gruppo 5">
              <a:extLst>
                <a:ext uri="{FF2B5EF4-FFF2-40B4-BE49-F238E27FC236}">
                  <a16:creationId xmlns:a16="http://schemas.microsoft.com/office/drawing/2014/main" id="{6ABE8B9E-9D3F-2586-2855-1BAD44D26BB0}"/>
                </a:ext>
              </a:extLst>
            </p:cNvPr>
            <p:cNvGrpSpPr/>
            <p:nvPr/>
          </p:nvGrpSpPr>
          <p:grpSpPr>
            <a:xfrm>
              <a:off x="718456" y="466531"/>
              <a:ext cx="622663" cy="2150187"/>
              <a:chOff x="718456" y="466531"/>
              <a:chExt cx="622663" cy="2150187"/>
            </a:xfrm>
          </p:grpSpPr>
          <p:sp>
            <p:nvSpPr>
              <p:cNvPr id="21" name="Rettangolo 20">
                <a:extLst>
                  <a:ext uri="{FF2B5EF4-FFF2-40B4-BE49-F238E27FC236}">
                    <a16:creationId xmlns:a16="http://schemas.microsoft.com/office/drawing/2014/main" id="{9A9A6DF6-56B9-548C-152A-AC408462767D}"/>
                  </a:ext>
                </a:extLst>
              </p:cNvPr>
              <p:cNvSpPr/>
              <p:nvPr/>
            </p:nvSpPr>
            <p:spPr>
              <a:xfrm>
                <a:off x="718456" y="466531"/>
                <a:ext cx="622663" cy="21460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it-IT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ttangolo 21">
                <a:extLst>
                  <a:ext uri="{FF2B5EF4-FFF2-40B4-BE49-F238E27FC236}">
                    <a16:creationId xmlns:a16="http://schemas.microsoft.com/office/drawing/2014/main" id="{4A9FA4F8-FD72-C3EB-CC10-E7E321F68EDC}"/>
                  </a:ext>
                </a:extLst>
              </p:cNvPr>
              <p:cNvSpPr/>
              <p:nvPr/>
            </p:nvSpPr>
            <p:spPr>
              <a:xfrm>
                <a:off x="718456" y="681135"/>
                <a:ext cx="622663" cy="21460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  <p:sp>
            <p:nvSpPr>
              <p:cNvPr id="23" name="Rettangolo 22">
                <a:extLst>
                  <a:ext uri="{FF2B5EF4-FFF2-40B4-BE49-F238E27FC236}">
                    <a16:creationId xmlns:a16="http://schemas.microsoft.com/office/drawing/2014/main" id="{BA59CE93-C7FC-B33E-56DA-3BC4F1FD134A}"/>
                  </a:ext>
                </a:extLst>
              </p:cNvPr>
              <p:cNvSpPr/>
              <p:nvPr/>
            </p:nvSpPr>
            <p:spPr>
              <a:xfrm>
                <a:off x="718456" y="895739"/>
                <a:ext cx="622663" cy="21460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  <p:sp>
            <p:nvSpPr>
              <p:cNvPr id="24" name="Rettangolo 23">
                <a:extLst>
                  <a:ext uri="{FF2B5EF4-FFF2-40B4-BE49-F238E27FC236}">
                    <a16:creationId xmlns:a16="http://schemas.microsoft.com/office/drawing/2014/main" id="{C63D5661-1C14-7D15-1718-5D05F9DE42B9}"/>
                  </a:ext>
                </a:extLst>
              </p:cNvPr>
              <p:cNvSpPr/>
              <p:nvPr/>
            </p:nvSpPr>
            <p:spPr>
              <a:xfrm>
                <a:off x="718456" y="1110343"/>
                <a:ext cx="622663" cy="21460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  <p:sp>
            <p:nvSpPr>
              <p:cNvPr id="25" name="Rettangolo 24">
                <a:extLst>
                  <a:ext uri="{FF2B5EF4-FFF2-40B4-BE49-F238E27FC236}">
                    <a16:creationId xmlns:a16="http://schemas.microsoft.com/office/drawing/2014/main" id="{6F6E55BA-19E4-ECCB-A083-17F36B623853}"/>
                  </a:ext>
                </a:extLst>
              </p:cNvPr>
              <p:cNvSpPr/>
              <p:nvPr/>
            </p:nvSpPr>
            <p:spPr>
              <a:xfrm>
                <a:off x="718456" y="1329094"/>
                <a:ext cx="622663" cy="21460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  <p:sp>
            <p:nvSpPr>
              <p:cNvPr id="26" name="Rettangolo 25">
                <a:extLst>
                  <a:ext uri="{FF2B5EF4-FFF2-40B4-BE49-F238E27FC236}">
                    <a16:creationId xmlns:a16="http://schemas.microsoft.com/office/drawing/2014/main" id="{DE6A603D-AD2C-443B-FC0D-3760DD7828A0}"/>
                  </a:ext>
                </a:extLst>
              </p:cNvPr>
              <p:cNvSpPr/>
              <p:nvPr/>
            </p:nvSpPr>
            <p:spPr>
              <a:xfrm>
                <a:off x="718456" y="1543698"/>
                <a:ext cx="622663" cy="21460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  <p:sp>
            <p:nvSpPr>
              <p:cNvPr id="27" name="Rettangolo 26">
                <a:extLst>
                  <a:ext uri="{FF2B5EF4-FFF2-40B4-BE49-F238E27FC236}">
                    <a16:creationId xmlns:a16="http://schemas.microsoft.com/office/drawing/2014/main" id="{3E752032-D278-0A44-214C-D1480E5A007B}"/>
                  </a:ext>
                </a:extLst>
              </p:cNvPr>
              <p:cNvSpPr/>
              <p:nvPr/>
            </p:nvSpPr>
            <p:spPr>
              <a:xfrm>
                <a:off x="718456" y="1758302"/>
                <a:ext cx="622663" cy="21460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  <p:sp>
            <p:nvSpPr>
              <p:cNvPr id="28" name="Rettangolo 27">
                <a:extLst>
                  <a:ext uri="{FF2B5EF4-FFF2-40B4-BE49-F238E27FC236}">
                    <a16:creationId xmlns:a16="http://schemas.microsoft.com/office/drawing/2014/main" id="{F0A106B7-351C-E16C-229A-A537B5B1892E}"/>
                  </a:ext>
                </a:extLst>
              </p:cNvPr>
              <p:cNvSpPr/>
              <p:nvPr/>
            </p:nvSpPr>
            <p:spPr>
              <a:xfrm>
                <a:off x="718456" y="1972906"/>
                <a:ext cx="622663" cy="21460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  <p:sp>
            <p:nvSpPr>
              <p:cNvPr id="29" name="Rettangolo 28">
                <a:extLst>
                  <a:ext uri="{FF2B5EF4-FFF2-40B4-BE49-F238E27FC236}">
                    <a16:creationId xmlns:a16="http://schemas.microsoft.com/office/drawing/2014/main" id="{4425CA58-35C8-B3E5-51C8-FFACE3C5ADE3}"/>
                  </a:ext>
                </a:extLst>
              </p:cNvPr>
              <p:cNvSpPr/>
              <p:nvPr/>
            </p:nvSpPr>
            <p:spPr>
              <a:xfrm>
                <a:off x="718456" y="2187510"/>
                <a:ext cx="622663" cy="21460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  <p:sp>
            <p:nvSpPr>
              <p:cNvPr id="30" name="Rettangolo 29">
                <a:extLst>
                  <a:ext uri="{FF2B5EF4-FFF2-40B4-BE49-F238E27FC236}">
                    <a16:creationId xmlns:a16="http://schemas.microsoft.com/office/drawing/2014/main" id="{7AB3C909-75A3-4188-EE72-7F439BE88EF7}"/>
                  </a:ext>
                </a:extLst>
              </p:cNvPr>
              <p:cNvSpPr/>
              <p:nvPr/>
            </p:nvSpPr>
            <p:spPr>
              <a:xfrm>
                <a:off x="718456" y="2402114"/>
                <a:ext cx="622663" cy="21460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</p:grpSp>
        <p:grpSp>
          <p:nvGrpSpPr>
            <p:cNvPr id="7" name="Gruppo 6">
              <a:extLst>
                <a:ext uri="{FF2B5EF4-FFF2-40B4-BE49-F238E27FC236}">
                  <a16:creationId xmlns:a16="http://schemas.microsoft.com/office/drawing/2014/main" id="{F62F1B39-D65B-E8A8-50FB-03575CCFD692}"/>
                </a:ext>
              </a:extLst>
            </p:cNvPr>
            <p:cNvGrpSpPr/>
            <p:nvPr/>
          </p:nvGrpSpPr>
          <p:grpSpPr>
            <a:xfrm>
              <a:off x="718454" y="4776443"/>
              <a:ext cx="622663" cy="429208"/>
              <a:chOff x="718456" y="2616718"/>
              <a:chExt cx="622663" cy="429208"/>
            </a:xfrm>
          </p:grpSpPr>
          <p:sp>
            <p:nvSpPr>
              <p:cNvPr id="19" name="Rettangolo 18">
                <a:extLst>
                  <a:ext uri="{FF2B5EF4-FFF2-40B4-BE49-F238E27FC236}">
                    <a16:creationId xmlns:a16="http://schemas.microsoft.com/office/drawing/2014/main" id="{C05C6432-2C12-4CDD-99DC-8B938D48BE72}"/>
                  </a:ext>
                </a:extLst>
              </p:cNvPr>
              <p:cNvSpPr/>
              <p:nvPr/>
            </p:nvSpPr>
            <p:spPr>
              <a:xfrm>
                <a:off x="718456" y="2616718"/>
                <a:ext cx="622663" cy="21460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  <a:effectLst>
                <a:softEdge rad="127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  <p:sp>
            <p:nvSpPr>
              <p:cNvPr id="20" name="Rettangolo 19">
                <a:extLst>
                  <a:ext uri="{FF2B5EF4-FFF2-40B4-BE49-F238E27FC236}">
                    <a16:creationId xmlns:a16="http://schemas.microsoft.com/office/drawing/2014/main" id="{258B7F8A-489A-7D4F-B339-F37E4EA912E1}"/>
                  </a:ext>
                </a:extLst>
              </p:cNvPr>
              <p:cNvSpPr/>
              <p:nvPr/>
            </p:nvSpPr>
            <p:spPr>
              <a:xfrm>
                <a:off x="718456" y="2831322"/>
                <a:ext cx="622663" cy="21460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  <a:effectLst>
                <a:softEdge rad="3175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</p:grpSp>
        <p:grpSp>
          <p:nvGrpSpPr>
            <p:cNvPr id="8" name="Gruppo 7">
              <a:extLst>
                <a:ext uri="{FF2B5EF4-FFF2-40B4-BE49-F238E27FC236}">
                  <a16:creationId xmlns:a16="http://schemas.microsoft.com/office/drawing/2014/main" id="{F4F3826D-312D-A009-60D3-14707F07C02D}"/>
                </a:ext>
              </a:extLst>
            </p:cNvPr>
            <p:cNvGrpSpPr/>
            <p:nvPr/>
          </p:nvGrpSpPr>
          <p:grpSpPr>
            <a:xfrm>
              <a:off x="718455" y="2616718"/>
              <a:ext cx="622663" cy="2150187"/>
              <a:chOff x="718456" y="466531"/>
              <a:chExt cx="622663" cy="2150187"/>
            </a:xfrm>
          </p:grpSpPr>
          <p:sp>
            <p:nvSpPr>
              <p:cNvPr id="9" name="Rettangolo 8">
                <a:extLst>
                  <a:ext uri="{FF2B5EF4-FFF2-40B4-BE49-F238E27FC236}">
                    <a16:creationId xmlns:a16="http://schemas.microsoft.com/office/drawing/2014/main" id="{98E60135-323E-6088-E7E2-672D6D0AFE01}"/>
                  </a:ext>
                </a:extLst>
              </p:cNvPr>
              <p:cNvSpPr/>
              <p:nvPr/>
            </p:nvSpPr>
            <p:spPr>
              <a:xfrm>
                <a:off x="718456" y="466531"/>
                <a:ext cx="622663" cy="21460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it-IT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Rettangolo 9">
                <a:extLst>
                  <a:ext uri="{FF2B5EF4-FFF2-40B4-BE49-F238E27FC236}">
                    <a16:creationId xmlns:a16="http://schemas.microsoft.com/office/drawing/2014/main" id="{3A6AED90-20C5-7A60-1213-3CC07557ACA6}"/>
                  </a:ext>
                </a:extLst>
              </p:cNvPr>
              <p:cNvSpPr/>
              <p:nvPr/>
            </p:nvSpPr>
            <p:spPr>
              <a:xfrm>
                <a:off x="718456" y="681135"/>
                <a:ext cx="622663" cy="21460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  <p:sp>
            <p:nvSpPr>
              <p:cNvPr id="11" name="Rettangolo 10">
                <a:extLst>
                  <a:ext uri="{FF2B5EF4-FFF2-40B4-BE49-F238E27FC236}">
                    <a16:creationId xmlns:a16="http://schemas.microsoft.com/office/drawing/2014/main" id="{B24EFDF4-C9B0-F46A-7886-3DB5A74CFEFA}"/>
                  </a:ext>
                </a:extLst>
              </p:cNvPr>
              <p:cNvSpPr/>
              <p:nvPr/>
            </p:nvSpPr>
            <p:spPr>
              <a:xfrm>
                <a:off x="718456" y="895739"/>
                <a:ext cx="622663" cy="21460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  <p:sp>
            <p:nvSpPr>
              <p:cNvPr id="12" name="Rettangolo 11">
                <a:extLst>
                  <a:ext uri="{FF2B5EF4-FFF2-40B4-BE49-F238E27FC236}">
                    <a16:creationId xmlns:a16="http://schemas.microsoft.com/office/drawing/2014/main" id="{2A06F402-D547-B23C-CF34-49C6B8A68CED}"/>
                  </a:ext>
                </a:extLst>
              </p:cNvPr>
              <p:cNvSpPr/>
              <p:nvPr/>
            </p:nvSpPr>
            <p:spPr>
              <a:xfrm>
                <a:off x="718456" y="1110343"/>
                <a:ext cx="622663" cy="21460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  <p:sp>
            <p:nvSpPr>
              <p:cNvPr id="13" name="Rettangolo 12">
                <a:extLst>
                  <a:ext uri="{FF2B5EF4-FFF2-40B4-BE49-F238E27FC236}">
                    <a16:creationId xmlns:a16="http://schemas.microsoft.com/office/drawing/2014/main" id="{F6BED94C-6993-79EA-99BD-91D60E3731FD}"/>
                  </a:ext>
                </a:extLst>
              </p:cNvPr>
              <p:cNvSpPr/>
              <p:nvPr/>
            </p:nvSpPr>
            <p:spPr>
              <a:xfrm>
                <a:off x="718456" y="1329094"/>
                <a:ext cx="622663" cy="21460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  <p:sp>
            <p:nvSpPr>
              <p:cNvPr id="14" name="Rettangolo 13">
                <a:extLst>
                  <a:ext uri="{FF2B5EF4-FFF2-40B4-BE49-F238E27FC236}">
                    <a16:creationId xmlns:a16="http://schemas.microsoft.com/office/drawing/2014/main" id="{5F9C1B4D-3EF4-D652-A60B-0D9C0DCB7922}"/>
                  </a:ext>
                </a:extLst>
              </p:cNvPr>
              <p:cNvSpPr/>
              <p:nvPr/>
            </p:nvSpPr>
            <p:spPr>
              <a:xfrm>
                <a:off x="718456" y="1543698"/>
                <a:ext cx="622663" cy="21460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  <p:sp>
            <p:nvSpPr>
              <p:cNvPr id="15" name="Rettangolo 14">
                <a:extLst>
                  <a:ext uri="{FF2B5EF4-FFF2-40B4-BE49-F238E27FC236}">
                    <a16:creationId xmlns:a16="http://schemas.microsoft.com/office/drawing/2014/main" id="{8C5D0AB0-414D-528A-4AA1-D68EE4959E50}"/>
                  </a:ext>
                </a:extLst>
              </p:cNvPr>
              <p:cNvSpPr/>
              <p:nvPr/>
            </p:nvSpPr>
            <p:spPr>
              <a:xfrm>
                <a:off x="718456" y="1758302"/>
                <a:ext cx="622663" cy="21460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  <p:sp>
            <p:nvSpPr>
              <p:cNvPr id="16" name="Rettangolo 15">
                <a:extLst>
                  <a:ext uri="{FF2B5EF4-FFF2-40B4-BE49-F238E27FC236}">
                    <a16:creationId xmlns:a16="http://schemas.microsoft.com/office/drawing/2014/main" id="{47B07AA2-A5BF-6515-0FAD-E0B6C2F50687}"/>
                  </a:ext>
                </a:extLst>
              </p:cNvPr>
              <p:cNvSpPr/>
              <p:nvPr/>
            </p:nvSpPr>
            <p:spPr>
              <a:xfrm>
                <a:off x="718456" y="1972906"/>
                <a:ext cx="622663" cy="21460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  <p:sp>
            <p:nvSpPr>
              <p:cNvPr id="17" name="Rettangolo 16">
                <a:extLst>
                  <a:ext uri="{FF2B5EF4-FFF2-40B4-BE49-F238E27FC236}">
                    <a16:creationId xmlns:a16="http://schemas.microsoft.com/office/drawing/2014/main" id="{A4F5D879-480B-AD84-AA20-EE8B3EF7CCF0}"/>
                  </a:ext>
                </a:extLst>
              </p:cNvPr>
              <p:cNvSpPr/>
              <p:nvPr/>
            </p:nvSpPr>
            <p:spPr>
              <a:xfrm>
                <a:off x="718456" y="2187510"/>
                <a:ext cx="622663" cy="21460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  <p:sp>
            <p:nvSpPr>
              <p:cNvPr id="18" name="Rettangolo 17">
                <a:extLst>
                  <a:ext uri="{FF2B5EF4-FFF2-40B4-BE49-F238E27FC236}">
                    <a16:creationId xmlns:a16="http://schemas.microsoft.com/office/drawing/2014/main" id="{0D2F1AE6-99E9-0C28-0127-3D8B5C97E2D5}"/>
                  </a:ext>
                </a:extLst>
              </p:cNvPr>
              <p:cNvSpPr/>
              <p:nvPr/>
            </p:nvSpPr>
            <p:spPr>
              <a:xfrm>
                <a:off x="718456" y="2402114"/>
                <a:ext cx="622663" cy="21460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</p:grpSp>
      </p:grpSp>
      <p:grpSp>
        <p:nvGrpSpPr>
          <p:cNvPr id="31" name="Gruppo 30">
            <a:extLst>
              <a:ext uri="{FF2B5EF4-FFF2-40B4-BE49-F238E27FC236}">
                <a16:creationId xmlns:a16="http://schemas.microsoft.com/office/drawing/2014/main" id="{12026DA5-83E9-BBEC-3F2C-E64585E31A0D}"/>
              </a:ext>
            </a:extLst>
          </p:cNvPr>
          <p:cNvGrpSpPr/>
          <p:nvPr/>
        </p:nvGrpSpPr>
        <p:grpSpPr>
          <a:xfrm>
            <a:off x="3779208" y="1614200"/>
            <a:ext cx="622663" cy="1077167"/>
            <a:chOff x="2516776" y="448751"/>
            <a:chExt cx="622663" cy="1077167"/>
          </a:xfrm>
        </p:grpSpPr>
        <p:sp>
          <p:nvSpPr>
            <p:cNvPr id="32" name="Rettangolo 31">
              <a:extLst>
                <a:ext uri="{FF2B5EF4-FFF2-40B4-BE49-F238E27FC236}">
                  <a16:creationId xmlns:a16="http://schemas.microsoft.com/office/drawing/2014/main" id="{AB264F72-FB10-5383-057D-A5FA6C37BE6A}"/>
                </a:ext>
              </a:extLst>
            </p:cNvPr>
            <p:cNvSpPr/>
            <p:nvPr/>
          </p:nvSpPr>
          <p:spPr>
            <a:xfrm>
              <a:off x="2516776" y="448751"/>
              <a:ext cx="622663" cy="21460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it-IT" sz="1000" dirty="0">
                <a:solidFill>
                  <a:schemeClr val="tx1"/>
                </a:solidFill>
              </a:endParaRPr>
            </a:p>
          </p:txBody>
        </p:sp>
        <p:sp>
          <p:nvSpPr>
            <p:cNvPr id="33" name="Rettangolo 32">
              <a:extLst>
                <a:ext uri="{FF2B5EF4-FFF2-40B4-BE49-F238E27FC236}">
                  <a16:creationId xmlns:a16="http://schemas.microsoft.com/office/drawing/2014/main" id="{46D6AD26-B79D-F8C8-D4FE-BA6EE9FF5DF1}"/>
                </a:ext>
              </a:extLst>
            </p:cNvPr>
            <p:cNvSpPr/>
            <p:nvPr/>
          </p:nvSpPr>
          <p:spPr>
            <a:xfrm>
              <a:off x="2516776" y="663355"/>
              <a:ext cx="622663" cy="21460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34" name="Rettangolo 33">
              <a:extLst>
                <a:ext uri="{FF2B5EF4-FFF2-40B4-BE49-F238E27FC236}">
                  <a16:creationId xmlns:a16="http://schemas.microsoft.com/office/drawing/2014/main" id="{D584D373-C80F-C473-BCFA-5434AC8D9336}"/>
                </a:ext>
              </a:extLst>
            </p:cNvPr>
            <p:cNvSpPr/>
            <p:nvPr/>
          </p:nvSpPr>
          <p:spPr>
            <a:xfrm>
              <a:off x="2516776" y="877959"/>
              <a:ext cx="622663" cy="21460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35" name="Rettangolo 34">
              <a:extLst>
                <a:ext uri="{FF2B5EF4-FFF2-40B4-BE49-F238E27FC236}">
                  <a16:creationId xmlns:a16="http://schemas.microsoft.com/office/drawing/2014/main" id="{BB719628-C8CF-7294-0D46-69D124C9522E}"/>
                </a:ext>
              </a:extLst>
            </p:cNvPr>
            <p:cNvSpPr/>
            <p:nvPr/>
          </p:nvSpPr>
          <p:spPr>
            <a:xfrm>
              <a:off x="2516776" y="1092563"/>
              <a:ext cx="622663" cy="21460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36" name="Rettangolo 35">
              <a:extLst>
                <a:ext uri="{FF2B5EF4-FFF2-40B4-BE49-F238E27FC236}">
                  <a16:creationId xmlns:a16="http://schemas.microsoft.com/office/drawing/2014/main" id="{B3DAC5A9-C6B4-C8B9-7FDA-A330C629F9F0}"/>
                </a:ext>
              </a:extLst>
            </p:cNvPr>
            <p:cNvSpPr/>
            <p:nvPr/>
          </p:nvSpPr>
          <p:spPr>
            <a:xfrm>
              <a:off x="2516776" y="1311314"/>
              <a:ext cx="622663" cy="21460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37" name="Parentesi graffa chiusa 36">
            <a:extLst>
              <a:ext uri="{FF2B5EF4-FFF2-40B4-BE49-F238E27FC236}">
                <a16:creationId xmlns:a16="http://schemas.microsoft.com/office/drawing/2014/main" id="{8B506EE8-25BC-EB73-CC85-03ECA5F31B85}"/>
              </a:ext>
            </a:extLst>
          </p:cNvPr>
          <p:cNvSpPr/>
          <p:nvPr/>
        </p:nvSpPr>
        <p:spPr>
          <a:xfrm>
            <a:off x="2405432" y="1612126"/>
            <a:ext cx="373380" cy="107716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6F725BFD-D13C-ACDF-4050-6DD0F6E574A7}"/>
              </a:ext>
            </a:extLst>
          </p:cNvPr>
          <p:cNvCxnSpPr>
            <a:cxnSpLocks/>
            <a:stCxn id="37" idx="1"/>
          </p:cNvCxnSpPr>
          <p:nvPr/>
        </p:nvCxnSpPr>
        <p:spPr>
          <a:xfrm>
            <a:off x="2778812" y="2150710"/>
            <a:ext cx="7419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EFC5D3F3-1217-E8B7-BDCF-D3FDCB62233E}"/>
              </a:ext>
            </a:extLst>
          </p:cNvPr>
          <p:cNvSpPr txBox="1"/>
          <p:nvPr/>
        </p:nvSpPr>
        <p:spPr>
          <a:xfrm>
            <a:off x="2711942" y="1892048"/>
            <a:ext cx="7873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100" dirty="0"/>
              <a:t>batch size</a:t>
            </a: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9549E446-F640-88F7-877B-3F6E672713BE}"/>
              </a:ext>
            </a:extLst>
          </p:cNvPr>
          <p:cNvSpPr txBox="1"/>
          <p:nvPr/>
        </p:nvSpPr>
        <p:spPr>
          <a:xfrm>
            <a:off x="1456586" y="1261097"/>
            <a:ext cx="103118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300" b="1" dirty="0" err="1"/>
              <a:t>whole</a:t>
            </a:r>
            <a:r>
              <a:rPr lang="it-IT" sz="1300" b="1" dirty="0"/>
              <a:t> query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93AC97B8-8E0B-8252-7167-CD78BEF6DA94}"/>
              </a:ext>
            </a:extLst>
          </p:cNvPr>
          <p:cNvSpPr txBox="1"/>
          <p:nvPr/>
        </p:nvSpPr>
        <p:spPr>
          <a:xfrm>
            <a:off x="3308916" y="1287343"/>
            <a:ext cx="156324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300" b="1" dirty="0"/>
              <a:t>embeddings (JSON)</a:t>
            </a:r>
          </a:p>
        </p:txBody>
      </p:sp>
      <p:grpSp>
        <p:nvGrpSpPr>
          <p:cNvPr id="42" name="Gruppo 41">
            <a:extLst>
              <a:ext uri="{FF2B5EF4-FFF2-40B4-BE49-F238E27FC236}">
                <a16:creationId xmlns:a16="http://schemas.microsoft.com/office/drawing/2014/main" id="{F1EE83DE-3E72-5B5D-128B-E40C9B9A87DC}"/>
              </a:ext>
            </a:extLst>
          </p:cNvPr>
          <p:cNvGrpSpPr/>
          <p:nvPr/>
        </p:nvGrpSpPr>
        <p:grpSpPr>
          <a:xfrm>
            <a:off x="4507306" y="1886556"/>
            <a:ext cx="896399" cy="261610"/>
            <a:chOff x="1769550" y="744379"/>
            <a:chExt cx="896399" cy="261610"/>
          </a:xfrm>
        </p:grpSpPr>
        <p:cxnSp>
          <p:nvCxnSpPr>
            <p:cNvPr id="43" name="Connettore 2 42">
              <a:extLst>
                <a:ext uri="{FF2B5EF4-FFF2-40B4-BE49-F238E27FC236}">
                  <a16:creationId xmlns:a16="http://schemas.microsoft.com/office/drawing/2014/main" id="{A5D87F2E-F831-402F-AE8A-18842CC230D2}"/>
                </a:ext>
              </a:extLst>
            </p:cNvPr>
            <p:cNvCxnSpPr/>
            <p:nvPr/>
          </p:nvCxnSpPr>
          <p:spPr>
            <a:xfrm flipV="1">
              <a:off x="1836420" y="990600"/>
              <a:ext cx="746760" cy="1244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CasellaDiTesto 43">
              <a:extLst>
                <a:ext uri="{FF2B5EF4-FFF2-40B4-BE49-F238E27FC236}">
                  <a16:creationId xmlns:a16="http://schemas.microsoft.com/office/drawing/2014/main" id="{E16D9DB4-4D9A-2DFD-1687-402C9B5529D0}"/>
                </a:ext>
              </a:extLst>
            </p:cNvPr>
            <p:cNvSpPr txBox="1"/>
            <p:nvPr/>
          </p:nvSpPr>
          <p:spPr>
            <a:xfrm>
              <a:off x="1769550" y="744379"/>
              <a:ext cx="89639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100" dirty="0" err="1"/>
                <a:t>extract</a:t>
              </a:r>
              <a:r>
                <a:rPr lang="it-IT" sz="1100" dirty="0"/>
                <a:t> data</a:t>
              </a:r>
            </a:p>
          </p:txBody>
        </p:sp>
      </p:grpSp>
      <p:grpSp>
        <p:nvGrpSpPr>
          <p:cNvPr id="45" name="Gruppo 44">
            <a:extLst>
              <a:ext uri="{FF2B5EF4-FFF2-40B4-BE49-F238E27FC236}">
                <a16:creationId xmlns:a16="http://schemas.microsoft.com/office/drawing/2014/main" id="{5F400228-FE54-B23D-5E9F-BD226E99287D}"/>
              </a:ext>
            </a:extLst>
          </p:cNvPr>
          <p:cNvGrpSpPr/>
          <p:nvPr/>
        </p:nvGrpSpPr>
        <p:grpSpPr>
          <a:xfrm>
            <a:off x="5428368" y="1612126"/>
            <a:ext cx="622663" cy="1077167"/>
            <a:chOff x="2516776" y="448751"/>
            <a:chExt cx="622663" cy="1077167"/>
          </a:xfrm>
        </p:grpSpPr>
        <p:sp>
          <p:nvSpPr>
            <p:cNvPr id="46" name="Rettangolo 45">
              <a:extLst>
                <a:ext uri="{FF2B5EF4-FFF2-40B4-BE49-F238E27FC236}">
                  <a16:creationId xmlns:a16="http://schemas.microsoft.com/office/drawing/2014/main" id="{CE3A1FD8-ADE0-6E0E-C95C-E1644D4C8626}"/>
                </a:ext>
              </a:extLst>
            </p:cNvPr>
            <p:cNvSpPr/>
            <p:nvPr/>
          </p:nvSpPr>
          <p:spPr>
            <a:xfrm>
              <a:off x="2516776" y="448751"/>
              <a:ext cx="622663" cy="21460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it-IT" sz="1000" dirty="0">
                <a:solidFill>
                  <a:schemeClr val="tx1"/>
                </a:solidFill>
              </a:endParaRPr>
            </a:p>
          </p:txBody>
        </p:sp>
        <p:sp>
          <p:nvSpPr>
            <p:cNvPr id="47" name="Rettangolo 46">
              <a:extLst>
                <a:ext uri="{FF2B5EF4-FFF2-40B4-BE49-F238E27FC236}">
                  <a16:creationId xmlns:a16="http://schemas.microsoft.com/office/drawing/2014/main" id="{57AB5E4A-2BBC-BD57-3B87-ADAFF026CE43}"/>
                </a:ext>
              </a:extLst>
            </p:cNvPr>
            <p:cNvSpPr/>
            <p:nvPr/>
          </p:nvSpPr>
          <p:spPr>
            <a:xfrm>
              <a:off x="2516776" y="663355"/>
              <a:ext cx="622663" cy="21460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48" name="Rettangolo 47">
              <a:extLst>
                <a:ext uri="{FF2B5EF4-FFF2-40B4-BE49-F238E27FC236}">
                  <a16:creationId xmlns:a16="http://schemas.microsoft.com/office/drawing/2014/main" id="{01BD92F9-6237-510E-AE4A-A7EB1F519F31}"/>
                </a:ext>
              </a:extLst>
            </p:cNvPr>
            <p:cNvSpPr/>
            <p:nvPr/>
          </p:nvSpPr>
          <p:spPr>
            <a:xfrm>
              <a:off x="2516776" y="877959"/>
              <a:ext cx="622663" cy="21460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49" name="Rettangolo 48">
              <a:extLst>
                <a:ext uri="{FF2B5EF4-FFF2-40B4-BE49-F238E27FC236}">
                  <a16:creationId xmlns:a16="http://schemas.microsoft.com/office/drawing/2014/main" id="{6E44E6FB-3390-AB97-12F2-E552B006EEB8}"/>
                </a:ext>
              </a:extLst>
            </p:cNvPr>
            <p:cNvSpPr/>
            <p:nvPr/>
          </p:nvSpPr>
          <p:spPr>
            <a:xfrm>
              <a:off x="2516776" y="1092563"/>
              <a:ext cx="622663" cy="21460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50" name="Rettangolo 49">
              <a:extLst>
                <a:ext uri="{FF2B5EF4-FFF2-40B4-BE49-F238E27FC236}">
                  <a16:creationId xmlns:a16="http://schemas.microsoft.com/office/drawing/2014/main" id="{CED4491E-BA3A-9BD6-92BC-37A09790E2F1}"/>
                </a:ext>
              </a:extLst>
            </p:cNvPr>
            <p:cNvSpPr/>
            <p:nvPr/>
          </p:nvSpPr>
          <p:spPr>
            <a:xfrm>
              <a:off x="2516776" y="1311314"/>
              <a:ext cx="622663" cy="21460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26F40D97-3217-7C5C-4B0D-3E0C4292BFA3}"/>
              </a:ext>
            </a:extLst>
          </p:cNvPr>
          <p:cNvSpPr txBox="1"/>
          <p:nvPr/>
        </p:nvSpPr>
        <p:spPr>
          <a:xfrm>
            <a:off x="5395314" y="1285269"/>
            <a:ext cx="6887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300" b="1" dirty="0" err="1"/>
              <a:t>vectors</a:t>
            </a:r>
            <a:endParaRPr lang="it-IT" sz="1300" b="1" dirty="0"/>
          </a:p>
        </p:txBody>
      </p:sp>
      <p:grpSp>
        <p:nvGrpSpPr>
          <p:cNvPr id="52" name="Gruppo 51">
            <a:extLst>
              <a:ext uri="{FF2B5EF4-FFF2-40B4-BE49-F238E27FC236}">
                <a16:creationId xmlns:a16="http://schemas.microsoft.com/office/drawing/2014/main" id="{1F59A63A-811A-CA6E-0453-DEBE0F49EF8D}"/>
              </a:ext>
            </a:extLst>
          </p:cNvPr>
          <p:cNvGrpSpPr/>
          <p:nvPr/>
        </p:nvGrpSpPr>
        <p:grpSpPr>
          <a:xfrm>
            <a:off x="6128352" y="1562725"/>
            <a:ext cx="1023037" cy="603274"/>
            <a:chOff x="1732908" y="399767"/>
            <a:chExt cx="1023037" cy="603274"/>
          </a:xfrm>
        </p:grpSpPr>
        <p:cxnSp>
          <p:nvCxnSpPr>
            <p:cNvPr id="53" name="Connettore 2 52">
              <a:extLst>
                <a:ext uri="{FF2B5EF4-FFF2-40B4-BE49-F238E27FC236}">
                  <a16:creationId xmlns:a16="http://schemas.microsoft.com/office/drawing/2014/main" id="{19ED8CEE-F1C3-C071-ED60-10D6BE89B882}"/>
                </a:ext>
              </a:extLst>
            </p:cNvPr>
            <p:cNvCxnSpPr/>
            <p:nvPr/>
          </p:nvCxnSpPr>
          <p:spPr>
            <a:xfrm flipV="1">
              <a:off x="1836420" y="990600"/>
              <a:ext cx="746760" cy="1244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CasellaDiTesto 53">
              <a:extLst>
                <a:ext uri="{FF2B5EF4-FFF2-40B4-BE49-F238E27FC236}">
                  <a16:creationId xmlns:a16="http://schemas.microsoft.com/office/drawing/2014/main" id="{518B4162-2A9C-1061-DD27-2E1C24F638BC}"/>
                </a:ext>
              </a:extLst>
            </p:cNvPr>
            <p:cNvSpPr txBox="1"/>
            <p:nvPr/>
          </p:nvSpPr>
          <p:spPr>
            <a:xfrm>
              <a:off x="1732908" y="399767"/>
              <a:ext cx="1023037" cy="600164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ctr"/>
              <a:r>
                <a:rPr lang="it-IT" sz="1100" dirty="0" err="1"/>
                <a:t>measurament</a:t>
              </a:r>
              <a:endParaRPr lang="it-IT" sz="1100" dirty="0"/>
            </a:p>
            <a:p>
              <a:pPr algn="ctr"/>
              <a:r>
                <a:rPr lang="it-IT" sz="1100" dirty="0"/>
                <a:t>with</a:t>
              </a:r>
            </a:p>
            <a:p>
              <a:pPr algn="ctr"/>
              <a:r>
                <a:rPr lang="it-IT" sz="1100" dirty="0" err="1"/>
                <a:t>vector</a:t>
              </a:r>
              <a:r>
                <a:rPr lang="it-IT" sz="1100" dirty="0"/>
                <a:t> query</a:t>
              </a:r>
            </a:p>
          </p:txBody>
        </p:sp>
      </p:grpSp>
      <p:grpSp>
        <p:nvGrpSpPr>
          <p:cNvPr id="55" name="Gruppo 54">
            <a:extLst>
              <a:ext uri="{FF2B5EF4-FFF2-40B4-BE49-F238E27FC236}">
                <a16:creationId xmlns:a16="http://schemas.microsoft.com/office/drawing/2014/main" id="{FC182B90-2F4F-5358-3421-1561875632F6}"/>
              </a:ext>
            </a:extLst>
          </p:cNvPr>
          <p:cNvGrpSpPr/>
          <p:nvPr/>
        </p:nvGrpSpPr>
        <p:grpSpPr>
          <a:xfrm>
            <a:off x="7179363" y="1632907"/>
            <a:ext cx="622663" cy="1077167"/>
            <a:chOff x="2516776" y="448751"/>
            <a:chExt cx="622663" cy="1077167"/>
          </a:xfrm>
        </p:grpSpPr>
        <p:sp>
          <p:nvSpPr>
            <p:cNvPr id="56" name="Rettangolo 55">
              <a:extLst>
                <a:ext uri="{FF2B5EF4-FFF2-40B4-BE49-F238E27FC236}">
                  <a16:creationId xmlns:a16="http://schemas.microsoft.com/office/drawing/2014/main" id="{F4133429-2C99-0072-8817-0F46FAC5C5BC}"/>
                </a:ext>
              </a:extLst>
            </p:cNvPr>
            <p:cNvSpPr/>
            <p:nvPr/>
          </p:nvSpPr>
          <p:spPr>
            <a:xfrm>
              <a:off x="2516776" y="448751"/>
              <a:ext cx="622663" cy="21460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it-IT" sz="1000" dirty="0">
                <a:solidFill>
                  <a:schemeClr val="tx1"/>
                </a:solidFill>
              </a:endParaRPr>
            </a:p>
          </p:txBody>
        </p:sp>
        <p:sp>
          <p:nvSpPr>
            <p:cNvPr id="57" name="Rettangolo 56">
              <a:extLst>
                <a:ext uri="{FF2B5EF4-FFF2-40B4-BE49-F238E27FC236}">
                  <a16:creationId xmlns:a16="http://schemas.microsoft.com/office/drawing/2014/main" id="{E982CAEA-6E72-421D-1B96-C12514254ED9}"/>
                </a:ext>
              </a:extLst>
            </p:cNvPr>
            <p:cNvSpPr/>
            <p:nvPr/>
          </p:nvSpPr>
          <p:spPr>
            <a:xfrm>
              <a:off x="2516776" y="663355"/>
              <a:ext cx="622663" cy="21460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58" name="Rettangolo 57">
              <a:extLst>
                <a:ext uri="{FF2B5EF4-FFF2-40B4-BE49-F238E27FC236}">
                  <a16:creationId xmlns:a16="http://schemas.microsoft.com/office/drawing/2014/main" id="{91F7E1D7-CCFD-21CE-8ECD-593E20D0D5DF}"/>
                </a:ext>
              </a:extLst>
            </p:cNvPr>
            <p:cNvSpPr/>
            <p:nvPr/>
          </p:nvSpPr>
          <p:spPr>
            <a:xfrm>
              <a:off x="2516776" y="877959"/>
              <a:ext cx="622663" cy="21460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59" name="Rettangolo 58">
              <a:extLst>
                <a:ext uri="{FF2B5EF4-FFF2-40B4-BE49-F238E27FC236}">
                  <a16:creationId xmlns:a16="http://schemas.microsoft.com/office/drawing/2014/main" id="{CCDCB986-99FF-1065-D8B2-F662207966EF}"/>
                </a:ext>
              </a:extLst>
            </p:cNvPr>
            <p:cNvSpPr/>
            <p:nvPr/>
          </p:nvSpPr>
          <p:spPr>
            <a:xfrm>
              <a:off x="2516776" y="1092563"/>
              <a:ext cx="622663" cy="21460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60" name="Rettangolo 59">
              <a:extLst>
                <a:ext uri="{FF2B5EF4-FFF2-40B4-BE49-F238E27FC236}">
                  <a16:creationId xmlns:a16="http://schemas.microsoft.com/office/drawing/2014/main" id="{E9AFA864-A709-C653-AA96-ACF06F75928E}"/>
                </a:ext>
              </a:extLst>
            </p:cNvPr>
            <p:cNvSpPr/>
            <p:nvPr/>
          </p:nvSpPr>
          <p:spPr>
            <a:xfrm>
              <a:off x="2516776" y="1311314"/>
              <a:ext cx="622663" cy="21460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A93EAAA6-B346-75F4-6578-23AD3AE8375C}"/>
              </a:ext>
            </a:extLst>
          </p:cNvPr>
          <p:cNvSpPr txBox="1"/>
          <p:nvPr/>
        </p:nvSpPr>
        <p:spPr>
          <a:xfrm>
            <a:off x="7016852" y="1306050"/>
            <a:ext cx="94769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300" b="1" dirty="0" err="1"/>
              <a:t>similarities</a:t>
            </a:r>
            <a:endParaRPr lang="it-IT" sz="1300" b="1" dirty="0"/>
          </a:p>
        </p:txBody>
      </p:sp>
      <p:sp>
        <p:nvSpPr>
          <p:cNvPr id="62" name="Parentesi graffa chiusa 61">
            <a:extLst>
              <a:ext uri="{FF2B5EF4-FFF2-40B4-BE49-F238E27FC236}">
                <a16:creationId xmlns:a16="http://schemas.microsoft.com/office/drawing/2014/main" id="{EE665E20-C3CF-61C9-1482-15538C38AA31}"/>
              </a:ext>
            </a:extLst>
          </p:cNvPr>
          <p:cNvSpPr/>
          <p:nvPr/>
        </p:nvSpPr>
        <p:spPr>
          <a:xfrm rot="5400000">
            <a:off x="5583141" y="863794"/>
            <a:ext cx="373380" cy="4261784"/>
          </a:xfrm>
          <a:prstGeom prst="rightBrace">
            <a:avLst>
              <a:gd name="adj1" fmla="val 8333"/>
              <a:gd name="adj2" fmla="val 86805"/>
            </a:avLst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63" name="Gruppo 62">
            <a:extLst>
              <a:ext uri="{FF2B5EF4-FFF2-40B4-BE49-F238E27FC236}">
                <a16:creationId xmlns:a16="http://schemas.microsoft.com/office/drawing/2014/main" id="{AAF6DE3D-FB46-805E-4C91-CAB687F3A5AD}"/>
              </a:ext>
            </a:extLst>
          </p:cNvPr>
          <p:cNvGrpSpPr/>
          <p:nvPr/>
        </p:nvGrpSpPr>
        <p:grpSpPr>
          <a:xfrm>
            <a:off x="3951513" y="3518164"/>
            <a:ext cx="622663" cy="1077167"/>
            <a:chOff x="2516776" y="448751"/>
            <a:chExt cx="622663" cy="1077167"/>
          </a:xfrm>
        </p:grpSpPr>
        <p:sp>
          <p:nvSpPr>
            <p:cNvPr id="64" name="Rettangolo 63">
              <a:extLst>
                <a:ext uri="{FF2B5EF4-FFF2-40B4-BE49-F238E27FC236}">
                  <a16:creationId xmlns:a16="http://schemas.microsoft.com/office/drawing/2014/main" id="{DF159B14-C7E4-6F56-1D65-147D54397784}"/>
                </a:ext>
              </a:extLst>
            </p:cNvPr>
            <p:cNvSpPr/>
            <p:nvPr/>
          </p:nvSpPr>
          <p:spPr>
            <a:xfrm>
              <a:off x="2516776" y="448751"/>
              <a:ext cx="622663" cy="21460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it-IT" sz="1000" dirty="0">
                <a:solidFill>
                  <a:schemeClr val="tx1"/>
                </a:solidFill>
              </a:endParaRPr>
            </a:p>
          </p:txBody>
        </p:sp>
        <p:sp>
          <p:nvSpPr>
            <p:cNvPr id="65" name="Rettangolo 64">
              <a:extLst>
                <a:ext uri="{FF2B5EF4-FFF2-40B4-BE49-F238E27FC236}">
                  <a16:creationId xmlns:a16="http://schemas.microsoft.com/office/drawing/2014/main" id="{54E18FC2-CB50-258F-3E79-B3E9ABD8297C}"/>
                </a:ext>
              </a:extLst>
            </p:cNvPr>
            <p:cNvSpPr/>
            <p:nvPr/>
          </p:nvSpPr>
          <p:spPr>
            <a:xfrm>
              <a:off x="2516776" y="663355"/>
              <a:ext cx="622663" cy="21460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66" name="Rettangolo 65">
              <a:extLst>
                <a:ext uri="{FF2B5EF4-FFF2-40B4-BE49-F238E27FC236}">
                  <a16:creationId xmlns:a16="http://schemas.microsoft.com/office/drawing/2014/main" id="{E3E33D0A-FA85-95A9-2557-B0B1E3AF3654}"/>
                </a:ext>
              </a:extLst>
            </p:cNvPr>
            <p:cNvSpPr/>
            <p:nvPr/>
          </p:nvSpPr>
          <p:spPr>
            <a:xfrm>
              <a:off x="2516776" y="877959"/>
              <a:ext cx="622663" cy="21460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67" name="Rettangolo 66">
              <a:extLst>
                <a:ext uri="{FF2B5EF4-FFF2-40B4-BE49-F238E27FC236}">
                  <a16:creationId xmlns:a16="http://schemas.microsoft.com/office/drawing/2014/main" id="{48BE74E3-5C7D-6B17-513E-F9E2639AEA6A}"/>
                </a:ext>
              </a:extLst>
            </p:cNvPr>
            <p:cNvSpPr/>
            <p:nvPr/>
          </p:nvSpPr>
          <p:spPr>
            <a:xfrm>
              <a:off x="2516776" y="1092563"/>
              <a:ext cx="622663" cy="21460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68" name="Rettangolo 67">
              <a:extLst>
                <a:ext uri="{FF2B5EF4-FFF2-40B4-BE49-F238E27FC236}">
                  <a16:creationId xmlns:a16="http://schemas.microsoft.com/office/drawing/2014/main" id="{C0E0C69F-6A8C-47B6-36AD-4ABEB933540A}"/>
                </a:ext>
              </a:extLst>
            </p:cNvPr>
            <p:cNvSpPr/>
            <p:nvPr/>
          </p:nvSpPr>
          <p:spPr>
            <a:xfrm>
              <a:off x="2516776" y="1311314"/>
              <a:ext cx="622663" cy="21460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69" name="CasellaDiTesto 68">
            <a:extLst>
              <a:ext uri="{FF2B5EF4-FFF2-40B4-BE49-F238E27FC236}">
                <a16:creationId xmlns:a16="http://schemas.microsoft.com/office/drawing/2014/main" id="{6C66B0C6-ED9E-DB17-BFA5-75231FA45A04}"/>
              </a:ext>
            </a:extLst>
          </p:cNvPr>
          <p:cNvSpPr txBox="1"/>
          <p:nvPr/>
        </p:nvSpPr>
        <p:spPr>
          <a:xfrm>
            <a:off x="3679292" y="3191307"/>
            <a:ext cx="11671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300" b="1" dirty="0" err="1"/>
              <a:t>vector</a:t>
            </a:r>
            <a:r>
              <a:rPr lang="it-IT" sz="1300" b="1" dirty="0"/>
              <a:t> models</a:t>
            </a:r>
          </a:p>
        </p:txBody>
      </p:sp>
      <p:grpSp>
        <p:nvGrpSpPr>
          <p:cNvPr id="70" name="Gruppo 69">
            <a:extLst>
              <a:ext uri="{FF2B5EF4-FFF2-40B4-BE49-F238E27FC236}">
                <a16:creationId xmlns:a16="http://schemas.microsoft.com/office/drawing/2014/main" id="{EEA637D6-5C6C-B4BA-BC7B-156189D848F7}"/>
              </a:ext>
            </a:extLst>
          </p:cNvPr>
          <p:cNvGrpSpPr/>
          <p:nvPr/>
        </p:nvGrpSpPr>
        <p:grpSpPr>
          <a:xfrm>
            <a:off x="4557999" y="3741080"/>
            <a:ext cx="1247073" cy="277324"/>
            <a:chOff x="1722895" y="725717"/>
            <a:chExt cx="1247073" cy="277324"/>
          </a:xfrm>
        </p:grpSpPr>
        <p:cxnSp>
          <p:nvCxnSpPr>
            <p:cNvPr id="71" name="Connettore 2 70">
              <a:extLst>
                <a:ext uri="{FF2B5EF4-FFF2-40B4-BE49-F238E27FC236}">
                  <a16:creationId xmlns:a16="http://schemas.microsoft.com/office/drawing/2014/main" id="{6F62F70A-BD9D-B3E0-3BD1-C941CE464B28}"/>
                </a:ext>
              </a:extLst>
            </p:cNvPr>
            <p:cNvCxnSpPr>
              <a:cxnSpLocks/>
            </p:cNvCxnSpPr>
            <p:nvPr/>
          </p:nvCxnSpPr>
          <p:spPr>
            <a:xfrm>
              <a:off x="1836420" y="1003041"/>
              <a:ext cx="99887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CasellaDiTesto 71">
              <a:extLst>
                <a:ext uri="{FF2B5EF4-FFF2-40B4-BE49-F238E27FC236}">
                  <a16:creationId xmlns:a16="http://schemas.microsoft.com/office/drawing/2014/main" id="{A36EE2A2-C9F4-DCAB-F41C-8E5B7460934B}"/>
                </a:ext>
              </a:extLst>
            </p:cNvPr>
            <p:cNvSpPr txBox="1"/>
            <p:nvPr/>
          </p:nvSpPr>
          <p:spPr>
            <a:xfrm>
              <a:off x="1722895" y="725717"/>
              <a:ext cx="124707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200" dirty="0"/>
                <a:t>sort by </a:t>
              </a:r>
              <a:r>
                <a:rPr lang="it-IT" sz="1200" dirty="0" err="1"/>
                <a:t>similarity</a:t>
              </a:r>
              <a:endParaRPr lang="it-IT" sz="1200" dirty="0"/>
            </a:p>
          </p:txBody>
        </p:sp>
      </p:grpSp>
      <p:grpSp>
        <p:nvGrpSpPr>
          <p:cNvPr id="73" name="Gruppo 72">
            <a:extLst>
              <a:ext uri="{FF2B5EF4-FFF2-40B4-BE49-F238E27FC236}">
                <a16:creationId xmlns:a16="http://schemas.microsoft.com/office/drawing/2014/main" id="{4F856B4B-B4CB-58C4-BFD8-7C3DDE764921}"/>
              </a:ext>
            </a:extLst>
          </p:cNvPr>
          <p:cNvGrpSpPr/>
          <p:nvPr/>
        </p:nvGrpSpPr>
        <p:grpSpPr>
          <a:xfrm>
            <a:off x="5852728" y="3514224"/>
            <a:ext cx="622663" cy="1077167"/>
            <a:chOff x="2516776" y="448751"/>
            <a:chExt cx="622663" cy="1077167"/>
          </a:xfrm>
        </p:grpSpPr>
        <p:sp>
          <p:nvSpPr>
            <p:cNvPr id="74" name="Rettangolo 73">
              <a:extLst>
                <a:ext uri="{FF2B5EF4-FFF2-40B4-BE49-F238E27FC236}">
                  <a16:creationId xmlns:a16="http://schemas.microsoft.com/office/drawing/2014/main" id="{52FA2B9D-AAAE-B894-CD32-C5AACCF708F1}"/>
                </a:ext>
              </a:extLst>
            </p:cNvPr>
            <p:cNvSpPr/>
            <p:nvPr/>
          </p:nvSpPr>
          <p:spPr>
            <a:xfrm>
              <a:off x="2516776" y="448751"/>
              <a:ext cx="622663" cy="21460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it-IT" sz="1000" dirty="0">
                <a:solidFill>
                  <a:schemeClr val="tx1"/>
                </a:solidFill>
              </a:endParaRPr>
            </a:p>
          </p:txBody>
        </p:sp>
        <p:sp>
          <p:nvSpPr>
            <p:cNvPr id="75" name="Rettangolo 74">
              <a:extLst>
                <a:ext uri="{FF2B5EF4-FFF2-40B4-BE49-F238E27FC236}">
                  <a16:creationId xmlns:a16="http://schemas.microsoft.com/office/drawing/2014/main" id="{5F7A99BE-61D1-EE16-2A50-784BD2DBE8D6}"/>
                </a:ext>
              </a:extLst>
            </p:cNvPr>
            <p:cNvSpPr/>
            <p:nvPr/>
          </p:nvSpPr>
          <p:spPr>
            <a:xfrm>
              <a:off x="2516776" y="663355"/>
              <a:ext cx="622663" cy="21460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76" name="Rettangolo 75">
              <a:extLst>
                <a:ext uri="{FF2B5EF4-FFF2-40B4-BE49-F238E27FC236}">
                  <a16:creationId xmlns:a16="http://schemas.microsoft.com/office/drawing/2014/main" id="{1B6703ED-598E-DFDA-3724-CB3208FE3266}"/>
                </a:ext>
              </a:extLst>
            </p:cNvPr>
            <p:cNvSpPr/>
            <p:nvPr/>
          </p:nvSpPr>
          <p:spPr>
            <a:xfrm>
              <a:off x="2516776" y="877959"/>
              <a:ext cx="622663" cy="21460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77" name="Rettangolo 76">
              <a:extLst>
                <a:ext uri="{FF2B5EF4-FFF2-40B4-BE49-F238E27FC236}">
                  <a16:creationId xmlns:a16="http://schemas.microsoft.com/office/drawing/2014/main" id="{1C40C7EB-F824-8B0A-FACC-584FD4F451FF}"/>
                </a:ext>
              </a:extLst>
            </p:cNvPr>
            <p:cNvSpPr/>
            <p:nvPr/>
          </p:nvSpPr>
          <p:spPr>
            <a:xfrm>
              <a:off x="2516776" y="1092563"/>
              <a:ext cx="622663" cy="21460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78" name="Rettangolo 77">
              <a:extLst>
                <a:ext uri="{FF2B5EF4-FFF2-40B4-BE49-F238E27FC236}">
                  <a16:creationId xmlns:a16="http://schemas.microsoft.com/office/drawing/2014/main" id="{ECABAC27-7E73-800C-56BE-D97F1C2A4819}"/>
                </a:ext>
              </a:extLst>
            </p:cNvPr>
            <p:cNvSpPr/>
            <p:nvPr/>
          </p:nvSpPr>
          <p:spPr>
            <a:xfrm>
              <a:off x="2516776" y="1311314"/>
              <a:ext cx="622663" cy="21460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79" name="CasellaDiTesto 78">
            <a:extLst>
              <a:ext uri="{FF2B5EF4-FFF2-40B4-BE49-F238E27FC236}">
                <a16:creationId xmlns:a16="http://schemas.microsoft.com/office/drawing/2014/main" id="{E19CFE42-EAA1-0F69-475C-218966C4B432}"/>
              </a:ext>
            </a:extLst>
          </p:cNvPr>
          <p:cNvSpPr txBox="1"/>
          <p:nvPr/>
        </p:nvSpPr>
        <p:spPr>
          <a:xfrm>
            <a:off x="5237208" y="3187367"/>
            <a:ext cx="185371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300" b="1" dirty="0" err="1"/>
              <a:t>vector</a:t>
            </a:r>
            <a:r>
              <a:rPr lang="it-IT" sz="1300" b="1" dirty="0"/>
              <a:t> models (</a:t>
            </a:r>
            <a:r>
              <a:rPr lang="it-IT" sz="1300" b="1" dirty="0" err="1"/>
              <a:t>ordered</a:t>
            </a:r>
            <a:r>
              <a:rPr lang="it-IT" sz="1300" b="1" dirty="0"/>
              <a:t>)</a:t>
            </a:r>
          </a:p>
        </p:txBody>
      </p:sp>
      <p:sp>
        <p:nvSpPr>
          <p:cNvPr id="80" name="CasellaDiTesto 79">
            <a:extLst>
              <a:ext uri="{FF2B5EF4-FFF2-40B4-BE49-F238E27FC236}">
                <a16:creationId xmlns:a16="http://schemas.microsoft.com/office/drawing/2014/main" id="{F63A8185-F8B7-B35A-5D53-649C406E1D8D}"/>
              </a:ext>
            </a:extLst>
          </p:cNvPr>
          <p:cNvSpPr txBox="1"/>
          <p:nvPr/>
        </p:nvSpPr>
        <p:spPr>
          <a:xfrm>
            <a:off x="4265002" y="2743017"/>
            <a:ext cx="19622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/>
              <a:t>aggregate data </a:t>
            </a:r>
            <a:r>
              <a:rPr lang="it-IT" sz="1200" dirty="0" err="1"/>
              <a:t>into</a:t>
            </a:r>
            <a:r>
              <a:rPr lang="it-IT" sz="1200" dirty="0"/>
              <a:t> models</a:t>
            </a:r>
          </a:p>
        </p:txBody>
      </p:sp>
      <p:sp>
        <p:nvSpPr>
          <p:cNvPr id="81" name="Parentesi graffa chiusa 80">
            <a:extLst>
              <a:ext uri="{FF2B5EF4-FFF2-40B4-BE49-F238E27FC236}">
                <a16:creationId xmlns:a16="http://schemas.microsoft.com/office/drawing/2014/main" id="{ED3D28ED-B8CE-57C5-69E4-6057D7CB79F5}"/>
              </a:ext>
            </a:extLst>
          </p:cNvPr>
          <p:cNvSpPr/>
          <p:nvPr/>
        </p:nvSpPr>
        <p:spPr>
          <a:xfrm>
            <a:off x="6677886" y="3514225"/>
            <a:ext cx="373380" cy="64381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82" name="Connettore 2 81">
            <a:extLst>
              <a:ext uri="{FF2B5EF4-FFF2-40B4-BE49-F238E27FC236}">
                <a16:creationId xmlns:a16="http://schemas.microsoft.com/office/drawing/2014/main" id="{97DECC52-0248-9E12-ADE1-11B423C41284}"/>
              </a:ext>
            </a:extLst>
          </p:cNvPr>
          <p:cNvCxnSpPr>
            <a:cxnSpLocks/>
          </p:cNvCxnSpPr>
          <p:nvPr/>
        </p:nvCxnSpPr>
        <p:spPr>
          <a:xfrm>
            <a:off x="6978624" y="3837081"/>
            <a:ext cx="7467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CasellaDiTesto 82">
            <a:extLst>
              <a:ext uri="{FF2B5EF4-FFF2-40B4-BE49-F238E27FC236}">
                <a16:creationId xmlns:a16="http://schemas.microsoft.com/office/drawing/2014/main" id="{0A917E68-3AEB-05DA-4A1C-86963F6EA358}"/>
              </a:ext>
            </a:extLst>
          </p:cNvPr>
          <p:cNvSpPr txBox="1"/>
          <p:nvPr/>
        </p:nvSpPr>
        <p:spPr>
          <a:xfrm>
            <a:off x="6893922" y="3604608"/>
            <a:ext cx="8563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100" dirty="0"/>
              <a:t>best </a:t>
            </a:r>
            <a:r>
              <a:rPr lang="it-IT" sz="1100" dirty="0" err="1"/>
              <a:t>top_m</a:t>
            </a:r>
            <a:endParaRPr lang="it-IT" sz="1100" dirty="0"/>
          </a:p>
        </p:txBody>
      </p:sp>
      <p:sp>
        <p:nvSpPr>
          <p:cNvPr id="84" name="Rettangolo 83">
            <a:extLst>
              <a:ext uri="{FF2B5EF4-FFF2-40B4-BE49-F238E27FC236}">
                <a16:creationId xmlns:a16="http://schemas.microsoft.com/office/drawing/2014/main" id="{7C92152F-9660-4D28-ADC4-51D767B41F3C}"/>
              </a:ext>
            </a:extLst>
          </p:cNvPr>
          <p:cNvSpPr/>
          <p:nvPr/>
        </p:nvSpPr>
        <p:spPr>
          <a:xfrm>
            <a:off x="7832061" y="3515175"/>
            <a:ext cx="622663" cy="21460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85" name="Rettangolo 84">
            <a:extLst>
              <a:ext uri="{FF2B5EF4-FFF2-40B4-BE49-F238E27FC236}">
                <a16:creationId xmlns:a16="http://schemas.microsoft.com/office/drawing/2014/main" id="{261220EB-A815-7589-1D3C-B4D912B77124}"/>
              </a:ext>
            </a:extLst>
          </p:cNvPr>
          <p:cNvSpPr/>
          <p:nvPr/>
        </p:nvSpPr>
        <p:spPr>
          <a:xfrm>
            <a:off x="7832061" y="3729779"/>
            <a:ext cx="622663" cy="21460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6" name="Rettangolo 85">
            <a:extLst>
              <a:ext uri="{FF2B5EF4-FFF2-40B4-BE49-F238E27FC236}">
                <a16:creationId xmlns:a16="http://schemas.microsoft.com/office/drawing/2014/main" id="{334D4E95-889F-9306-7E84-65C454CF3335}"/>
              </a:ext>
            </a:extLst>
          </p:cNvPr>
          <p:cNvSpPr/>
          <p:nvPr/>
        </p:nvSpPr>
        <p:spPr>
          <a:xfrm>
            <a:off x="7832061" y="3944383"/>
            <a:ext cx="622663" cy="21460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7" name="CasellaDiTesto 86">
            <a:extLst>
              <a:ext uri="{FF2B5EF4-FFF2-40B4-BE49-F238E27FC236}">
                <a16:creationId xmlns:a16="http://schemas.microsoft.com/office/drawing/2014/main" id="{D19FF17D-9B35-43F7-D12B-DACD01A5F861}"/>
              </a:ext>
            </a:extLst>
          </p:cNvPr>
          <p:cNvSpPr txBox="1"/>
          <p:nvPr/>
        </p:nvSpPr>
        <p:spPr>
          <a:xfrm>
            <a:off x="7216535" y="3156774"/>
            <a:ext cx="185371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300" b="1" dirty="0" err="1"/>
              <a:t>vector</a:t>
            </a:r>
            <a:r>
              <a:rPr lang="it-IT" sz="1300" b="1" dirty="0"/>
              <a:t> models (</a:t>
            </a:r>
            <a:r>
              <a:rPr lang="it-IT" sz="1300" b="1" dirty="0" err="1"/>
              <a:t>ordered</a:t>
            </a:r>
            <a:r>
              <a:rPr lang="it-IT" sz="1300" b="1" dirty="0"/>
              <a:t>)</a:t>
            </a:r>
          </a:p>
        </p:txBody>
      </p:sp>
      <p:sp>
        <p:nvSpPr>
          <p:cNvPr id="88" name="CasellaDiTesto 87">
            <a:extLst>
              <a:ext uri="{FF2B5EF4-FFF2-40B4-BE49-F238E27FC236}">
                <a16:creationId xmlns:a16="http://schemas.microsoft.com/office/drawing/2014/main" id="{CC1EFC57-0ADE-5E64-1B99-053C809373F4}"/>
              </a:ext>
            </a:extLst>
          </p:cNvPr>
          <p:cNvSpPr txBox="1"/>
          <p:nvPr/>
        </p:nvSpPr>
        <p:spPr>
          <a:xfrm>
            <a:off x="2901265" y="5191855"/>
            <a:ext cx="54286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top_m</a:t>
            </a:r>
            <a:r>
              <a:rPr lang="it-IT" dirty="0"/>
              <a:t> = </a:t>
            </a:r>
            <a:r>
              <a:rPr lang="it-IT" dirty="0" err="1"/>
              <a:t>top_k</a:t>
            </a:r>
            <a:r>
              <a:rPr lang="it-IT" dirty="0"/>
              <a:t> * (1 + </a:t>
            </a:r>
            <a:r>
              <a:rPr lang="it-IT" dirty="0" err="1"/>
              <a:t>log</a:t>
            </a:r>
            <a:r>
              <a:rPr lang="it-IT" sz="1300" dirty="0" err="1"/>
              <a:t>e</a:t>
            </a:r>
            <a:r>
              <a:rPr lang="it-IT" dirty="0"/>
              <a:t>(</a:t>
            </a:r>
            <a:r>
              <a:rPr lang="it-IT" dirty="0" err="1"/>
              <a:t>batch_size</a:t>
            </a:r>
            <a:r>
              <a:rPr lang="it-IT" dirty="0"/>
              <a:t>)</a:t>
            </a:r>
          </a:p>
          <a:p>
            <a:endParaRPr lang="it-IT" dirty="0"/>
          </a:p>
          <a:p>
            <a:r>
              <a:rPr lang="it-IT" dirty="0" err="1"/>
              <a:t>produced</a:t>
            </a:r>
            <a:r>
              <a:rPr lang="it-IT" dirty="0"/>
              <a:t> </a:t>
            </a:r>
            <a:r>
              <a:rPr lang="it-IT" dirty="0" err="1"/>
              <a:t>candidates</a:t>
            </a:r>
            <a:r>
              <a:rPr lang="it-IT" dirty="0"/>
              <a:t> = </a:t>
            </a:r>
            <a:r>
              <a:rPr lang="it-IT" dirty="0" err="1"/>
              <a:t>top_m</a:t>
            </a:r>
            <a:r>
              <a:rPr lang="it-IT" dirty="0"/>
              <a:t> * (</a:t>
            </a:r>
            <a:r>
              <a:rPr lang="it-IT" dirty="0" err="1"/>
              <a:t>query_size</a:t>
            </a:r>
            <a:r>
              <a:rPr lang="it-IT" dirty="0"/>
              <a:t>/</a:t>
            </a:r>
            <a:r>
              <a:rPr lang="it-IT" dirty="0" err="1"/>
              <a:t>batch_size</a:t>
            </a:r>
            <a:r>
              <a:rPr lang="it-IT" dirty="0"/>
              <a:t>)</a:t>
            </a:r>
          </a:p>
        </p:txBody>
      </p:sp>
      <p:cxnSp>
        <p:nvCxnSpPr>
          <p:cNvPr id="89" name="Connettore 2 88">
            <a:extLst>
              <a:ext uri="{FF2B5EF4-FFF2-40B4-BE49-F238E27FC236}">
                <a16:creationId xmlns:a16="http://schemas.microsoft.com/office/drawing/2014/main" id="{D997003D-8FA0-3D9A-F088-C6C5A9052E8F}"/>
              </a:ext>
            </a:extLst>
          </p:cNvPr>
          <p:cNvCxnSpPr>
            <a:cxnSpLocks/>
          </p:cNvCxnSpPr>
          <p:nvPr/>
        </p:nvCxnSpPr>
        <p:spPr>
          <a:xfrm>
            <a:off x="8572219" y="3814002"/>
            <a:ext cx="170144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ttangolo 92">
            <a:extLst>
              <a:ext uri="{FF2B5EF4-FFF2-40B4-BE49-F238E27FC236}">
                <a16:creationId xmlns:a16="http://schemas.microsoft.com/office/drawing/2014/main" id="{2D691B23-55B9-55B1-E5AF-1D79DB6D7502}"/>
              </a:ext>
            </a:extLst>
          </p:cNvPr>
          <p:cNvSpPr/>
          <p:nvPr/>
        </p:nvSpPr>
        <p:spPr>
          <a:xfrm>
            <a:off x="614586" y="71162"/>
            <a:ext cx="9761198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it-IT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RAGMongoDB</a:t>
            </a:r>
            <a:r>
              <a:rPr lang="it-IT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: </a:t>
            </a:r>
            <a:r>
              <a:rPr lang="it-IT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top_m</a:t>
            </a:r>
            <a:r>
              <a:rPr lang="it-IT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</a:t>
            </a:r>
            <a:r>
              <a:rPr lang="it-IT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vector</a:t>
            </a:r>
            <a:r>
              <a:rPr lang="it-IT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</a:t>
            </a:r>
            <a:r>
              <a:rPr lang="it-IT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retrieval</a:t>
            </a:r>
            <a:endParaRPr lang="it-IT" sz="4800" b="1" cap="none" spc="0" dirty="0">
              <a:ln/>
              <a:solidFill>
                <a:schemeClr val="accent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04253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FDABD-879F-0C2B-A948-35D723D7D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o 2">
            <a:extLst>
              <a:ext uri="{FF2B5EF4-FFF2-40B4-BE49-F238E27FC236}">
                <a16:creationId xmlns:a16="http://schemas.microsoft.com/office/drawing/2014/main" id="{678F6209-97F8-1EE9-6320-B642BBC06F0D}"/>
              </a:ext>
            </a:extLst>
          </p:cNvPr>
          <p:cNvGrpSpPr/>
          <p:nvPr/>
        </p:nvGrpSpPr>
        <p:grpSpPr>
          <a:xfrm>
            <a:off x="1940769" y="2034078"/>
            <a:ext cx="622663" cy="1935583"/>
            <a:chOff x="718456" y="466531"/>
            <a:chExt cx="622663" cy="1935583"/>
          </a:xfrm>
        </p:grpSpPr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D1F939DE-D836-8107-5CE7-F1DA6FE31BB6}"/>
                </a:ext>
              </a:extLst>
            </p:cNvPr>
            <p:cNvSpPr/>
            <p:nvPr/>
          </p:nvSpPr>
          <p:spPr>
            <a:xfrm>
              <a:off x="718456" y="466531"/>
              <a:ext cx="622663" cy="21460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it-IT" sz="1000" dirty="0">
                <a:solidFill>
                  <a:schemeClr val="tx1"/>
                </a:solidFill>
              </a:endParaRPr>
            </a:p>
          </p:txBody>
        </p:sp>
        <p:sp>
          <p:nvSpPr>
            <p:cNvPr id="40" name="Rettangolo 39">
              <a:extLst>
                <a:ext uri="{FF2B5EF4-FFF2-40B4-BE49-F238E27FC236}">
                  <a16:creationId xmlns:a16="http://schemas.microsoft.com/office/drawing/2014/main" id="{C7512C97-B195-1505-0D2B-B9A849BB77B9}"/>
                </a:ext>
              </a:extLst>
            </p:cNvPr>
            <p:cNvSpPr/>
            <p:nvPr/>
          </p:nvSpPr>
          <p:spPr>
            <a:xfrm>
              <a:off x="718456" y="681135"/>
              <a:ext cx="622663" cy="21460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45" name="Rettangolo 44">
              <a:extLst>
                <a:ext uri="{FF2B5EF4-FFF2-40B4-BE49-F238E27FC236}">
                  <a16:creationId xmlns:a16="http://schemas.microsoft.com/office/drawing/2014/main" id="{FA6963E8-BAFF-9FE6-874D-4857E29021F1}"/>
                </a:ext>
              </a:extLst>
            </p:cNvPr>
            <p:cNvSpPr/>
            <p:nvPr/>
          </p:nvSpPr>
          <p:spPr>
            <a:xfrm>
              <a:off x="718456" y="895739"/>
              <a:ext cx="622663" cy="21460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46" name="Rettangolo 45">
              <a:extLst>
                <a:ext uri="{FF2B5EF4-FFF2-40B4-BE49-F238E27FC236}">
                  <a16:creationId xmlns:a16="http://schemas.microsoft.com/office/drawing/2014/main" id="{89D9D60A-A23D-65AB-25AC-3B00B6DCC10B}"/>
                </a:ext>
              </a:extLst>
            </p:cNvPr>
            <p:cNvSpPr/>
            <p:nvPr/>
          </p:nvSpPr>
          <p:spPr>
            <a:xfrm>
              <a:off x="718456" y="1110343"/>
              <a:ext cx="622663" cy="21460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47" name="Rettangolo 46">
              <a:extLst>
                <a:ext uri="{FF2B5EF4-FFF2-40B4-BE49-F238E27FC236}">
                  <a16:creationId xmlns:a16="http://schemas.microsoft.com/office/drawing/2014/main" id="{911F72F0-3F46-0653-7079-3B289388636E}"/>
                </a:ext>
              </a:extLst>
            </p:cNvPr>
            <p:cNvSpPr/>
            <p:nvPr/>
          </p:nvSpPr>
          <p:spPr>
            <a:xfrm>
              <a:off x="718456" y="1329094"/>
              <a:ext cx="622663" cy="21460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79" name="Rettangolo 78">
              <a:extLst>
                <a:ext uri="{FF2B5EF4-FFF2-40B4-BE49-F238E27FC236}">
                  <a16:creationId xmlns:a16="http://schemas.microsoft.com/office/drawing/2014/main" id="{4D781704-0411-D041-BE6A-10A97FF6B7C3}"/>
                </a:ext>
              </a:extLst>
            </p:cNvPr>
            <p:cNvSpPr/>
            <p:nvPr/>
          </p:nvSpPr>
          <p:spPr>
            <a:xfrm>
              <a:off x="718456" y="1543698"/>
              <a:ext cx="622663" cy="21460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89" name="Rettangolo 88">
              <a:extLst>
                <a:ext uri="{FF2B5EF4-FFF2-40B4-BE49-F238E27FC236}">
                  <a16:creationId xmlns:a16="http://schemas.microsoft.com/office/drawing/2014/main" id="{C9CD948E-E1EC-A768-5401-9192039AD131}"/>
                </a:ext>
              </a:extLst>
            </p:cNvPr>
            <p:cNvSpPr/>
            <p:nvPr/>
          </p:nvSpPr>
          <p:spPr>
            <a:xfrm>
              <a:off x="718456" y="1758302"/>
              <a:ext cx="622663" cy="21460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92" name="Rettangolo 91">
              <a:extLst>
                <a:ext uri="{FF2B5EF4-FFF2-40B4-BE49-F238E27FC236}">
                  <a16:creationId xmlns:a16="http://schemas.microsoft.com/office/drawing/2014/main" id="{E3A06AED-1B07-A656-09EE-95E84911C79F}"/>
                </a:ext>
              </a:extLst>
            </p:cNvPr>
            <p:cNvSpPr/>
            <p:nvPr/>
          </p:nvSpPr>
          <p:spPr>
            <a:xfrm>
              <a:off x="718456" y="1972906"/>
              <a:ext cx="622663" cy="21460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93" name="Rettangolo 92">
              <a:extLst>
                <a:ext uri="{FF2B5EF4-FFF2-40B4-BE49-F238E27FC236}">
                  <a16:creationId xmlns:a16="http://schemas.microsoft.com/office/drawing/2014/main" id="{66F7B855-3AD9-3153-631E-7AA6D760D1E0}"/>
                </a:ext>
              </a:extLst>
            </p:cNvPr>
            <p:cNvSpPr/>
            <p:nvPr/>
          </p:nvSpPr>
          <p:spPr>
            <a:xfrm>
              <a:off x="718456" y="2187510"/>
              <a:ext cx="622663" cy="21460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grpSp>
        <p:nvGrpSpPr>
          <p:cNvPr id="98" name="Gruppo 97">
            <a:extLst>
              <a:ext uri="{FF2B5EF4-FFF2-40B4-BE49-F238E27FC236}">
                <a16:creationId xmlns:a16="http://schemas.microsoft.com/office/drawing/2014/main" id="{6B6BEA33-0E9C-A263-85CE-F25CBAA32BA3}"/>
              </a:ext>
            </a:extLst>
          </p:cNvPr>
          <p:cNvGrpSpPr/>
          <p:nvPr/>
        </p:nvGrpSpPr>
        <p:grpSpPr>
          <a:xfrm>
            <a:off x="1940769" y="3969661"/>
            <a:ext cx="622663" cy="429208"/>
            <a:chOff x="718456" y="2616718"/>
            <a:chExt cx="622663" cy="429208"/>
          </a:xfrm>
        </p:grpSpPr>
        <p:sp>
          <p:nvSpPr>
            <p:cNvPr id="99" name="Rettangolo 98">
              <a:extLst>
                <a:ext uri="{FF2B5EF4-FFF2-40B4-BE49-F238E27FC236}">
                  <a16:creationId xmlns:a16="http://schemas.microsoft.com/office/drawing/2014/main" id="{2D7A2A13-2E94-1C20-54DE-F5875E2A0221}"/>
                </a:ext>
              </a:extLst>
            </p:cNvPr>
            <p:cNvSpPr/>
            <p:nvPr/>
          </p:nvSpPr>
          <p:spPr>
            <a:xfrm>
              <a:off x="718456" y="2616718"/>
              <a:ext cx="622663" cy="21460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100" name="Rettangolo 99">
              <a:extLst>
                <a:ext uri="{FF2B5EF4-FFF2-40B4-BE49-F238E27FC236}">
                  <a16:creationId xmlns:a16="http://schemas.microsoft.com/office/drawing/2014/main" id="{A529516A-17D8-FD6D-231A-AA1E6965171F}"/>
                </a:ext>
              </a:extLst>
            </p:cNvPr>
            <p:cNvSpPr/>
            <p:nvPr/>
          </p:nvSpPr>
          <p:spPr>
            <a:xfrm>
              <a:off x="718456" y="2831322"/>
              <a:ext cx="622663" cy="21460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  <a:effectLst>
              <a:softEdge rad="3175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101" name="CasellaDiTesto 100">
            <a:extLst>
              <a:ext uri="{FF2B5EF4-FFF2-40B4-BE49-F238E27FC236}">
                <a16:creationId xmlns:a16="http://schemas.microsoft.com/office/drawing/2014/main" id="{64D9DA4C-2E64-B728-A49D-B6C0F67FF869}"/>
              </a:ext>
            </a:extLst>
          </p:cNvPr>
          <p:cNvSpPr txBox="1"/>
          <p:nvPr/>
        </p:nvSpPr>
        <p:spPr>
          <a:xfrm>
            <a:off x="1609069" y="1727955"/>
            <a:ext cx="12860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400" b="1" dirty="0" err="1"/>
              <a:t>candidates</a:t>
            </a:r>
            <a:r>
              <a:rPr lang="it-IT" sz="1400" b="1" dirty="0"/>
              <a:t> list</a:t>
            </a:r>
          </a:p>
        </p:txBody>
      </p:sp>
      <p:grpSp>
        <p:nvGrpSpPr>
          <p:cNvPr id="102" name="Gruppo 101">
            <a:extLst>
              <a:ext uri="{FF2B5EF4-FFF2-40B4-BE49-F238E27FC236}">
                <a16:creationId xmlns:a16="http://schemas.microsoft.com/office/drawing/2014/main" id="{F5661BE4-0E6C-F886-9331-B9AF58D1C136}"/>
              </a:ext>
            </a:extLst>
          </p:cNvPr>
          <p:cNvGrpSpPr/>
          <p:nvPr/>
        </p:nvGrpSpPr>
        <p:grpSpPr>
          <a:xfrm>
            <a:off x="6818877" y="2192696"/>
            <a:ext cx="1935577" cy="622829"/>
            <a:chOff x="3878529" y="637631"/>
            <a:chExt cx="1935577" cy="622829"/>
          </a:xfrm>
        </p:grpSpPr>
        <p:grpSp>
          <p:nvGrpSpPr>
            <p:cNvPr id="103" name="Gruppo 102">
              <a:extLst>
                <a:ext uri="{FF2B5EF4-FFF2-40B4-BE49-F238E27FC236}">
                  <a16:creationId xmlns:a16="http://schemas.microsoft.com/office/drawing/2014/main" id="{BDB1538C-975B-008F-A13F-509A16FE0F69}"/>
                </a:ext>
              </a:extLst>
            </p:cNvPr>
            <p:cNvGrpSpPr/>
            <p:nvPr/>
          </p:nvGrpSpPr>
          <p:grpSpPr>
            <a:xfrm rot="5400000">
              <a:off x="4105781" y="410545"/>
              <a:ext cx="622663" cy="1077167"/>
              <a:chOff x="2516776" y="448751"/>
              <a:chExt cx="622663" cy="1077167"/>
            </a:xfrm>
            <a:solidFill>
              <a:schemeClr val="tx1">
                <a:lumMod val="50000"/>
                <a:lumOff val="50000"/>
              </a:schemeClr>
            </a:solidFill>
          </p:grpSpPr>
          <p:sp>
            <p:nvSpPr>
              <p:cNvPr id="109" name="Rettangolo 108">
                <a:extLst>
                  <a:ext uri="{FF2B5EF4-FFF2-40B4-BE49-F238E27FC236}">
                    <a16:creationId xmlns:a16="http://schemas.microsoft.com/office/drawing/2014/main" id="{E7E46DE8-84EA-BE71-52F9-B239078F9B90}"/>
                  </a:ext>
                </a:extLst>
              </p:cNvPr>
              <p:cNvSpPr/>
              <p:nvPr/>
            </p:nvSpPr>
            <p:spPr>
              <a:xfrm>
                <a:off x="2516776" y="448751"/>
                <a:ext cx="622663" cy="214604"/>
              </a:xfrm>
              <a:prstGeom prst="rect">
                <a:avLst/>
              </a:prstGeom>
              <a:grpFill/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it-IT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0" name="Rettangolo 109">
                <a:extLst>
                  <a:ext uri="{FF2B5EF4-FFF2-40B4-BE49-F238E27FC236}">
                    <a16:creationId xmlns:a16="http://schemas.microsoft.com/office/drawing/2014/main" id="{5603DF26-0E2F-D77F-C1B8-8A4BBF83892A}"/>
                  </a:ext>
                </a:extLst>
              </p:cNvPr>
              <p:cNvSpPr/>
              <p:nvPr/>
            </p:nvSpPr>
            <p:spPr>
              <a:xfrm>
                <a:off x="2516776" y="663355"/>
                <a:ext cx="622663" cy="214604"/>
              </a:xfrm>
              <a:prstGeom prst="rect">
                <a:avLst/>
              </a:prstGeom>
              <a:grpFill/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  <p:sp>
            <p:nvSpPr>
              <p:cNvPr id="111" name="Rettangolo 110">
                <a:extLst>
                  <a:ext uri="{FF2B5EF4-FFF2-40B4-BE49-F238E27FC236}">
                    <a16:creationId xmlns:a16="http://schemas.microsoft.com/office/drawing/2014/main" id="{5E9FC204-4B32-C65F-D5FB-2FEBCDAFBE20}"/>
                  </a:ext>
                </a:extLst>
              </p:cNvPr>
              <p:cNvSpPr/>
              <p:nvPr/>
            </p:nvSpPr>
            <p:spPr>
              <a:xfrm>
                <a:off x="2516776" y="877959"/>
                <a:ext cx="622663" cy="214604"/>
              </a:xfrm>
              <a:prstGeom prst="rect">
                <a:avLst/>
              </a:prstGeom>
              <a:grpFill/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  <p:sp>
            <p:nvSpPr>
              <p:cNvPr id="112" name="Rettangolo 111">
                <a:extLst>
                  <a:ext uri="{FF2B5EF4-FFF2-40B4-BE49-F238E27FC236}">
                    <a16:creationId xmlns:a16="http://schemas.microsoft.com/office/drawing/2014/main" id="{BADAA43B-237B-2CB6-BD80-DA07A9B4626E}"/>
                  </a:ext>
                </a:extLst>
              </p:cNvPr>
              <p:cNvSpPr/>
              <p:nvPr/>
            </p:nvSpPr>
            <p:spPr>
              <a:xfrm>
                <a:off x="2516776" y="1092563"/>
                <a:ext cx="622663" cy="214604"/>
              </a:xfrm>
              <a:prstGeom prst="rect">
                <a:avLst/>
              </a:prstGeom>
              <a:grpFill/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  <p:sp>
            <p:nvSpPr>
              <p:cNvPr id="113" name="Rettangolo 112">
                <a:extLst>
                  <a:ext uri="{FF2B5EF4-FFF2-40B4-BE49-F238E27FC236}">
                    <a16:creationId xmlns:a16="http://schemas.microsoft.com/office/drawing/2014/main" id="{5B63ADBB-752C-E8E5-9396-29DA61BCF39D}"/>
                  </a:ext>
                </a:extLst>
              </p:cNvPr>
              <p:cNvSpPr/>
              <p:nvPr/>
            </p:nvSpPr>
            <p:spPr>
              <a:xfrm>
                <a:off x="2516776" y="1311314"/>
                <a:ext cx="622663" cy="214604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</p:grpSp>
        <p:grpSp>
          <p:nvGrpSpPr>
            <p:cNvPr id="104" name="Gruppo 103">
              <a:extLst>
                <a:ext uri="{FF2B5EF4-FFF2-40B4-BE49-F238E27FC236}">
                  <a16:creationId xmlns:a16="http://schemas.microsoft.com/office/drawing/2014/main" id="{C2E54B3B-8CE9-ACF4-A0B6-383FDA0380E1}"/>
                </a:ext>
              </a:extLst>
            </p:cNvPr>
            <p:cNvGrpSpPr/>
            <p:nvPr/>
          </p:nvGrpSpPr>
          <p:grpSpPr>
            <a:xfrm>
              <a:off x="5170298" y="637632"/>
              <a:ext cx="643808" cy="622664"/>
              <a:chOff x="5184919" y="635723"/>
              <a:chExt cx="643808" cy="622664"/>
            </a:xfrm>
          </p:grpSpPr>
          <p:sp>
            <p:nvSpPr>
              <p:cNvPr id="106" name="Rettangolo 105">
                <a:extLst>
                  <a:ext uri="{FF2B5EF4-FFF2-40B4-BE49-F238E27FC236}">
                    <a16:creationId xmlns:a16="http://schemas.microsoft.com/office/drawing/2014/main" id="{16CAD281-A7FA-E8D2-A4B4-9010CCB66783}"/>
                  </a:ext>
                </a:extLst>
              </p:cNvPr>
              <p:cNvSpPr/>
              <p:nvPr/>
            </p:nvSpPr>
            <p:spPr>
              <a:xfrm rot="5400000">
                <a:off x="5410093" y="839754"/>
                <a:ext cx="622663" cy="214604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it-IT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7" name="Rettangolo 106">
                <a:extLst>
                  <a:ext uri="{FF2B5EF4-FFF2-40B4-BE49-F238E27FC236}">
                    <a16:creationId xmlns:a16="http://schemas.microsoft.com/office/drawing/2014/main" id="{34308BCF-BA60-4E67-62E8-B06EAA150ED8}"/>
                  </a:ext>
                </a:extLst>
              </p:cNvPr>
              <p:cNvSpPr/>
              <p:nvPr/>
            </p:nvSpPr>
            <p:spPr>
              <a:xfrm rot="5400000">
                <a:off x="5195493" y="839753"/>
                <a:ext cx="622663" cy="214604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  <p:sp>
            <p:nvSpPr>
              <p:cNvPr id="108" name="Rettangolo 107">
                <a:extLst>
                  <a:ext uri="{FF2B5EF4-FFF2-40B4-BE49-F238E27FC236}">
                    <a16:creationId xmlns:a16="http://schemas.microsoft.com/office/drawing/2014/main" id="{E9547506-D41E-17D9-1E19-536E3B26FE31}"/>
                  </a:ext>
                </a:extLst>
              </p:cNvPr>
              <p:cNvSpPr/>
              <p:nvPr/>
            </p:nvSpPr>
            <p:spPr>
              <a:xfrm rot="5400000">
                <a:off x="4980889" y="839753"/>
                <a:ext cx="622663" cy="214604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</p:grpSp>
        <p:sp>
          <p:nvSpPr>
            <p:cNvPr id="105" name="Rettangolo 104">
              <a:extLst>
                <a:ext uri="{FF2B5EF4-FFF2-40B4-BE49-F238E27FC236}">
                  <a16:creationId xmlns:a16="http://schemas.microsoft.com/office/drawing/2014/main" id="{9C1B760D-AE2E-B91B-51FA-77EACCB87C94}"/>
                </a:ext>
              </a:extLst>
            </p:cNvPr>
            <p:cNvSpPr/>
            <p:nvPr/>
          </p:nvSpPr>
          <p:spPr>
            <a:xfrm rot="5400000">
              <a:off x="4751666" y="841661"/>
              <a:ext cx="622663" cy="214604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114" name="CasellaDiTesto 113">
            <a:extLst>
              <a:ext uri="{FF2B5EF4-FFF2-40B4-BE49-F238E27FC236}">
                <a16:creationId xmlns:a16="http://schemas.microsoft.com/office/drawing/2014/main" id="{7D8745FF-711A-ABB1-D79A-31AFE9066A36}"/>
              </a:ext>
            </a:extLst>
          </p:cNvPr>
          <p:cNvSpPr txBox="1"/>
          <p:nvPr/>
        </p:nvSpPr>
        <p:spPr>
          <a:xfrm>
            <a:off x="6778273" y="1730948"/>
            <a:ext cx="20209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400" b="1" dirty="0" err="1"/>
              <a:t>top_k</a:t>
            </a:r>
            <a:r>
              <a:rPr lang="it-IT" sz="1400" b="1" dirty="0"/>
              <a:t> list (semi-</a:t>
            </a:r>
            <a:r>
              <a:rPr lang="it-IT" sz="1400" b="1" dirty="0" err="1"/>
              <a:t>ordered</a:t>
            </a:r>
            <a:r>
              <a:rPr lang="it-IT" sz="1400" b="1" dirty="0"/>
              <a:t>)</a:t>
            </a:r>
          </a:p>
        </p:txBody>
      </p:sp>
      <p:cxnSp>
        <p:nvCxnSpPr>
          <p:cNvPr id="115" name="Connettore 2 114">
            <a:extLst>
              <a:ext uri="{FF2B5EF4-FFF2-40B4-BE49-F238E27FC236}">
                <a16:creationId xmlns:a16="http://schemas.microsoft.com/office/drawing/2014/main" id="{E65A1D44-D1CA-0052-E386-DA6A370ADD48}"/>
              </a:ext>
            </a:extLst>
          </p:cNvPr>
          <p:cNvCxnSpPr/>
          <p:nvPr/>
        </p:nvCxnSpPr>
        <p:spPr>
          <a:xfrm>
            <a:off x="2642681" y="2146667"/>
            <a:ext cx="69494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CasellaDiTesto 115">
            <a:extLst>
              <a:ext uri="{FF2B5EF4-FFF2-40B4-BE49-F238E27FC236}">
                <a16:creationId xmlns:a16="http://schemas.microsoft.com/office/drawing/2014/main" id="{AFBDAA83-32A5-7735-B443-BE9252C87928}"/>
              </a:ext>
            </a:extLst>
          </p:cNvPr>
          <p:cNvSpPr txBox="1"/>
          <p:nvPr/>
        </p:nvSpPr>
        <p:spPr>
          <a:xfrm>
            <a:off x="3416874" y="2034078"/>
            <a:ext cx="28296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check </a:t>
            </a:r>
            <a:r>
              <a:rPr lang="it-IT" sz="1600" dirty="0" err="1"/>
              <a:t>if</a:t>
            </a:r>
            <a:r>
              <a:rPr lang="it-IT" sz="1600" dirty="0"/>
              <a:t> </a:t>
            </a:r>
            <a:r>
              <a:rPr lang="it-IT" sz="1600" dirty="0" err="1"/>
              <a:t>is</a:t>
            </a:r>
            <a:r>
              <a:rPr lang="it-IT" sz="1600" dirty="0"/>
              <a:t> </a:t>
            </a:r>
            <a:r>
              <a:rPr lang="it-IT" sz="1600" dirty="0" err="1"/>
              <a:t>closer</a:t>
            </a:r>
            <a:r>
              <a:rPr lang="it-IT" sz="1600" dirty="0"/>
              <a:t> </a:t>
            </a:r>
            <a:r>
              <a:rPr lang="it-IT" sz="1600" dirty="0" err="1"/>
              <a:t>than</a:t>
            </a:r>
            <a:r>
              <a:rPr lang="it-IT" sz="1600" dirty="0"/>
              <a:t> ‘min’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check </a:t>
            </a:r>
            <a:r>
              <a:rPr lang="it-IT" sz="1600" dirty="0" err="1"/>
              <a:t>if</a:t>
            </a:r>
            <a:r>
              <a:rPr lang="it-IT" sz="1600" dirty="0"/>
              <a:t> </a:t>
            </a:r>
            <a:r>
              <a:rPr lang="it-IT" sz="1600" dirty="0" err="1"/>
              <a:t>is</a:t>
            </a:r>
            <a:r>
              <a:rPr lang="it-IT" sz="1600" dirty="0"/>
              <a:t> </a:t>
            </a:r>
            <a:r>
              <a:rPr lang="it-IT" sz="1600" dirty="0" err="1"/>
              <a:t>not</a:t>
            </a:r>
            <a:r>
              <a:rPr lang="it-IT" sz="1600" dirty="0"/>
              <a:t> </a:t>
            </a:r>
            <a:r>
              <a:rPr lang="it-IT" sz="1600" dirty="0" err="1"/>
              <a:t>reduntìdant</a:t>
            </a:r>
            <a:endParaRPr lang="it-IT" sz="1600" dirty="0"/>
          </a:p>
        </p:txBody>
      </p:sp>
      <p:sp>
        <p:nvSpPr>
          <p:cNvPr id="117" name="CasellaDiTesto 116">
            <a:extLst>
              <a:ext uri="{FF2B5EF4-FFF2-40B4-BE49-F238E27FC236}">
                <a16:creationId xmlns:a16="http://schemas.microsoft.com/office/drawing/2014/main" id="{BCC856A0-3A71-E56D-22A9-AE0A8A478CBE}"/>
              </a:ext>
            </a:extLst>
          </p:cNvPr>
          <p:cNvSpPr txBox="1"/>
          <p:nvPr/>
        </p:nvSpPr>
        <p:spPr>
          <a:xfrm>
            <a:off x="6701598" y="3143670"/>
            <a:ext cx="44916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300" dirty="0"/>
              <a:t>min</a:t>
            </a:r>
          </a:p>
        </p:txBody>
      </p:sp>
      <p:sp>
        <p:nvSpPr>
          <p:cNvPr id="118" name="CasellaDiTesto 117">
            <a:extLst>
              <a:ext uri="{FF2B5EF4-FFF2-40B4-BE49-F238E27FC236}">
                <a16:creationId xmlns:a16="http://schemas.microsoft.com/office/drawing/2014/main" id="{FB20813F-5C2D-0CFD-77A9-5433EFF8E641}"/>
              </a:ext>
            </a:extLst>
          </p:cNvPr>
          <p:cNvSpPr txBox="1"/>
          <p:nvPr/>
        </p:nvSpPr>
        <p:spPr>
          <a:xfrm>
            <a:off x="8407342" y="3150431"/>
            <a:ext cx="47961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300" dirty="0"/>
              <a:t>max</a:t>
            </a:r>
          </a:p>
        </p:txBody>
      </p:sp>
      <p:sp>
        <p:nvSpPr>
          <p:cNvPr id="119" name="CasellaDiTesto 118">
            <a:extLst>
              <a:ext uri="{FF2B5EF4-FFF2-40B4-BE49-F238E27FC236}">
                <a16:creationId xmlns:a16="http://schemas.microsoft.com/office/drawing/2014/main" id="{C2FA2904-F999-114C-D35C-253F7B82233B}"/>
              </a:ext>
            </a:extLst>
          </p:cNvPr>
          <p:cNvSpPr txBox="1"/>
          <p:nvPr/>
        </p:nvSpPr>
        <p:spPr>
          <a:xfrm>
            <a:off x="7382477" y="3150431"/>
            <a:ext cx="81253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300" dirty="0" err="1"/>
              <a:t>unsorted</a:t>
            </a:r>
            <a:endParaRPr lang="it-IT" sz="1300" dirty="0"/>
          </a:p>
        </p:txBody>
      </p:sp>
      <p:cxnSp>
        <p:nvCxnSpPr>
          <p:cNvPr id="120" name="Connettore 2 119">
            <a:extLst>
              <a:ext uri="{FF2B5EF4-FFF2-40B4-BE49-F238E27FC236}">
                <a16:creationId xmlns:a16="http://schemas.microsoft.com/office/drawing/2014/main" id="{F0DBF6E9-F82A-4CCD-C51F-DC0C42DDB75E}"/>
              </a:ext>
            </a:extLst>
          </p:cNvPr>
          <p:cNvCxnSpPr>
            <a:cxnSpLocks/>
            <a:stCxn id="117" idx="0"/>
            <a:endCxn id="113" idx="3"/>
          </p:cNvCxnSpPr>
          <p:nvPr/>
        </p:nvCxnSpPr>
        <p:spPr>
          <a:xfrm flipV="1">
            <a:off x="6926179" y="2815526"/>
            <a:ext cx="1" cy="3281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ttore 2 120">
            <a:extLst>
              <a:ext uri="{FF2B5EF4-FFF2-40B4-BE49-F238E27FC236}">
                <a16:creationId xmlns:a16="http://schemas.microsoft.com/office/drawing/2014/main" id="{7C3C6491-E901-864E-F29D-15BD6A6F2827}"/>
              </a:ext>
            </a:extLst>
          </p:cNvPr>
          <p:cNvCxnSpPr>
            <a:cxnSpLocks/>
            <a:stCxn id="118" idx="0"/>
            <a:endCxn id="106" idx="3"/>
          </p:cNvCxnSpPr>
          <p:nvPr/>
        </p:nvCxnSpPr>
        <p:spPr>
          <a:xfrm flipV="1">
            <a:off x="8647152" y="2815362"/>
            <a:ext cx="0" cy="335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Parentesi graffa chiusa 121">
            <a:extLst>
              <a:ext uri="{FF2B5EF4-FFF2-40B4-BE49-F238E27FC236}">
                <a16:creationId xmlns:a16="http://schemas.microsoft.com/office/drawing/2014/main" id="{FACC5D7C-46F9-96E9-A973-D74EFC46E8BF}"/>
              </a:ext>
            </a:extLst>
          </p:cNvPr>
          <p:cNvSpPr/>
          <p:nvPr/>
        </p:nvSpPr>
        <p:spPr>
          <a:xfrm rot="5400000">
            <a:off x="7660157" y="2274846"/>
            <a:ext cx="259080" cy="1500305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3" name="Connettore 2 122">
            <a:extLst>
              <a:ext uri="{FF2B5EF4-FFF2-40B4-BE49-F238E27FC236}">
                <a16:creationId xmlns:a16="http://schemas.microsoft.com/office/drawing/2014/main" id="{C184BA08-95E6-F542-0BEF-D59570A7D6AA}"/>
              </a:ext>
            </a:extLst>
          </p:cNvPr>
          <p:cNvCxnSpPr>
            <a:cxnSpLocks/>
          </p:cNvCxnSpPr>
          <p:nvPr/>
        </p:nvCxnSpPr>
        <p:spPr>
          <a:xfrm rot="5400000">
            <a:off x="4098101" y="2974034"/>
            <a:ext cx="69494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CasellaDiTesto 123">
            <a:extLst>
              <a:ext uri="{FF2B5EF4-FFF2-40B4-BE49-F238E27FC236}">
                <a16:creationId xmlns:a16="http://schemas.microsoft.com/office/drawing/2014/main" id="{C7A43D14-1E74-F8E0-EE1F-CF03C9929888}"/>
              </a:ext>
            </a:extLst>
          </p:cNvPr>
          <p:cNvSpPr txBox="1"/>
          <p:nvPr/>
        </p:nvSpPr>
        <p:spPr>
          <a:xfrm>
            <a:off x="3416874" y="3365561"/>
            <a:ext cx="521674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check </a:t>
            </a:r>
            <a:r>
              <a:rPr lang="it-IT" sz="1600" dirty="0" err="1"/>
              <a:t>if</a:t>
            </a:r>
            <a:r>
              <a:rPr lang="it-IT" sz="1600" dirty="0"/>
              <a:t> </a:t>
            </a:r>
            <a:r>
              <a:rPr lang="it-IT" sz="1600" dirty="0" err="1"/>
              <a:t>is</a:t>
            </a:r>
            <a:r>
              <a:rPr lang="it-IT" sz="1600" dirty="0"/>
              <a:t> </a:t>
            </a:r>
            <a:r>
              <a:rPr lang="it-IT" sz="1600" dirty="0" err="1"/>
              <a:t>closer</a:t>
            </a:r>
            <a:r>
              <a:rPr lang="it-IT" sz="1600" dirty="0"/>
              <a:t> </a:t>
            </a:r>
            <a:r>
              <a:rPr lang="it-IT" sz="1600" dirty="0" err="1"/>
              <a:t>than</a:t>
            </a:r>
            <a:r>
              <a:rPr lang="it-IT" sz="1600" dirty="0"/>
              <a:t> ‘max’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insert</a:t>
            </a:r>
            <a:r>
              <a:rPr lang="it-IT" sz="1600" dirty="0"/>
              <a:t> </a:t>
            </a:r>
            <a:r>
              <a:rPr lang="it-IT" sz="1600" dirty="0" err="1"/>
              <a:t>into</a:t>
            </a:r>
            <a:r>
              <a:rPr lang="it-IT" sz="1600" dirty="0"/>
              <a:t> the list </a:t>
            </a:r>
            <a:r>
              <a:rPr lang="it-IT" sz="1600" dirty="0" err="1"/>
              <a:t>as</a:t>
            </a:r>
            <a:r>
              <a:rPr lang="it-IT" sz="1600" dirty="0"/>
              <a:t> new ‘max’ or </a:t>
            </a:r>
            <a:r>
              <a:rPr lang="it-IT" sz="1600" dirty="0" err="1"/>
              <a:t>as</a:t>
            </a:r>
            <a:r>
              <a:rPr lang="it-IT" sz="1600" dirty="0"/>
              <a:t> </a:t>
            </a:r>
            <a:r>
              <a:rPr lang="it-IT" sz="1600" dirty="0" err="1"/>
              <a:t>unsorted</a:t>
            </a:r>
            <a:r>
              <a:rPr lang="it-IT" sz="1600" dirty="0"/>
              <a:t> </a:t>
            </a:r>
            <a:r>
              <a:rPr lang="it-IT" sz="1600" dirty="0" err="1"/>
              <a:t>element</a:t>
            </a: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 err="1"/>
              <a:t>eventual</a:t>
            </a:r>
            <a:r>
              <a:rPr lang="it-IT" sz="1600" dirty="0"/>
              <a:t> sort of the list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removal</a:t>
            </a:r>
            <a:r>
              <a:rPr lang="it-IT" sz="1600" dirty="0"/>
              <a:t> of ‘min’</a:t>
            </a:r>
          </a:p>
        </p:txBody>
      </p:sp>
      <p:sp>
        <p:nvSpPr>
          <p:cNvPr id="125" name="Rettangolo 124">
            <a:extLst>
              <a:ext uri="{FF2B5EF4-FFF2-40B4-BE49-F238E27FC236}">
                <a16:creationId xmlns:a16="http://schemas.microsoft.com/office/drawing/2014/main" id="{FF0089D8-F2D3-794E-8D23-BD209F0D0131}"/>
              </a:ext>
            </a:extLst>
          </p:cNvPr>
          <p:cNvSpPr/>
          <p:nvPr/>
        </p:nvSpPr>
        <p:spPr>
          <a:xfrm>
            <a:off x="614586" y="71162"/>
            <a:ext cx="8252516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it-IT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RAGMongoDB</a:t>
            </a:r>
            <a:r>
              <a:rPr lang="it-IT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: intra-</a:t>
            </a:r>
            <a:r>
              <a:rPr lang="it-IT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top_k</a:t>
            </a:r>
            <a:r>
              <a:rPr lang="it-IT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filter</a:t>
            </a:r>
            <a:endParaRPr lang="it-IT" sz="4800" b="1" cap="none" spc="0" dirty="0">
              <a:ln/>
              <a:solidFill>
                <a:schemeClr val="accent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25179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F065F3F1-D3B5-EEBD-4CB6-AC1A246927BD}"/>
              </a:ext>
            </a:extLst>
          </p:cNvPr>
          <p:cNvSpPr/>
          <p:nvPr/>
        </p:nvSpPr>
        <p:spPr>
          <a:xfrm>
            <a:off x="614586" y="71162"/>
            <a:ext cx="6187784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it-IT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Possible</a:t>
            </a:r>
            <a:r>
              <a:rPr lang="it-IT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</a:t>
            </a:r>
            <a:r>
              <a:rPr lang="it-IT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improvements</a:t>
            </a:r>
            <a:endParaRPr lang="it-IT" sz="4800" b="1" cap="none" spc="0" dirty="0">
              <a:ln/>
              <a:solidFill>
                <a:schemeClr val="accent4"/>
              </a:solidFill>
              <a:effectLst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9F6F53B-1092-E293-D58A-9DBB59F30FDF}"/>
              </a:ext>
            </a:extLst>
          </p:cNvPr>
          <p:cNvSpPr txBox="1"/>
          <p:nvPr/>
        </p:nvSpPr>
        <p:spPr>
          <a:xfrm>
            <a:off x="1203649" y="1446245"/>
            <a:ext cx="6666184" cy="23442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000" dirty="0"/>
              <a:t>bug-</a:t>
            </a:r>
            <a:r>
              <a:rPr lang="it-IT" sz="2000" dirty="0" err="1"/>
              <a:t>fixes</a:t>
            </a:r>
            <a:r>
              <a:rPr lang="it-IT" sz="2000" dirty="0"/>
              <a:t>, </a:t>
            </a:r>
            <a:r>
              <a:rPr lang="it-IT" sz="2000" dirty="0" err="1"/>
              <a:t>adjustments</a:t>
            </a:r>
            <a:r>
              <a:rPr lang="it-IT" sz="2000" dirty="0"/>
              <a:t> and </a:t>
            </a:r>
            <a:r>
              <a:rPr lang="it-IT" sz="2000" dirty="0" err="1"/>
              <a:t>real</a:t>
            </a:r>
            <a:r>
              <a:rPr lang="it-IT" sz="2000" dirty="0"/>
              <a:t>-world-case </a:t>
            </a:r>
            <a:r>
              <a:rPr lang="it-IT" sz="2000" dirty="0" err="1"/>
              <a:t>error</a:t>
            </a:r>
            <a:r>
              <a:rPr lang="it-IT" sz="2000" dirty="0"/>
              <a:t> </a:t>
            </a:r>
            <a:r>
              <a:rPr lang="it-IT" sz="2000" dirty="0" err="1"/>
              <a:t>handling</a:t>
            </a:r>
            <a:endParaRPr lang="it-IT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000" dirty="0"/>
              <a:t>complete GUI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000" dirty="0"/>
              <a:t>distributive </a:t>
            </a:r>
            <a:r>
              <a:rPr lang="it-IT" sz="2000" dirty="0" err="1"/>
              <a:t>implementation</a:t>
            </a:r>
            <a:endParaRPr lang="it-IT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000" dirty="0" err="1"/>
              <a:t>internal</a:t>
            </a:r>
            <a:r>
              <a:rPr lang="it-IT" sz="2000" dirty="0"/>
              <a:t> </a:t>
            </a:r>
            <a:r>
              <a:rPr lang="it-IT" sz="2000" dirty="0" err="1"/>
              <a:t>variables</a:t>
            </a:r>
            <a:r>
              <a:rPr lang="it-IT" sz="2000" dirty="0"/>
              <a:t> </a:t>
            </a:r>
            <a:r>
              <a:rPr lang="it-IT" sz="2000" dirty="0" err="1"/>
              <a:t>always</a:t>
            </a:r>
            <a:r>
              <a:rPr lang="it-IT" sz="2000" dirty="0"/>
              <a:t> </a:t>
            </a:r>
            <a:r>
              <a:rPr lang="it-IT" sz="2000" dirty="0" err="1"/>
              <a:t>manageable</a:t>
            </a:r>
            <a:endParaRPr lang="it-IT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000" dirty="0"/>
              <a:t>intra-index </a:t>
            </a:r>
            <a:r>
              <a:rPr lang="it-IT" sz="2000" dirty="0" err="1"/>
              <a:t>top_k</a:t>
            </a:r>
            <a:r>
              <a:rPr lang="it-IT" sz="2000" dirty="0"/>
              <a:t> extension</a:t>
            </a:r>
          </a:p>
        </p:txBody>
      </p:sp>
    </p:spTree>
    <p:extLst>
      <p:ext uri="{BB962C8B-B14F-4D97-AF65-F5344CB8AC3E}">
        <p14:creationId xmlns:p14="http://schemas.microsoft.com/office/powerpoint/2010/main" val="3103988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B32F381E-A640-172F-0077-5AC273019A74}"/>
              </a:ext>
            </a:extLst>
          </p:cNvPr>
          <p:cNvSpPr/>
          <p:nvPr/>
        </p:nvSpPr>
        <p:spPr>
          <a:xfrm>
            <a:off x="3577971" y="1767006"/>
            <a:ext cx="5036058" cy="332398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7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Thank </a:t>
            </a:r>
            <a:r>
              <a:rPr lang="it-IT" sz="70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you</a:t>
            </a:r>
            <a:endParaRPr lang="it-IT" sz="70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pPr algn="ctr"/>
            <a:r>
              <a:rPr lang="it-IT" sz="7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for</a:t>
            </a:r>
          </a:p>
          <a:p>
            <a:pPr algn="ctr"/>
            <a:r>
              <a:rPr lang="it-IT" sz="7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the </a:t>
            </a:r>
            <a:r>
              <a:rPr lang="it-IT" sz="70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attention</a:t>
            </a:r>
            <a:endParaRPr lang="it-IT" sz="70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4554493"/>
      </p:ext>
    </p:extLst>
  </p:cSld>
  <p:clrMapOvr>
    <a:masterClrMapping/>
  </p:clrMapOvr>
</p:sld>
</file>

<file path=ppt/theme/theme1.xml><?xml version="1.0" encoding="utf-8"?>
<a:theme xmlns:a="http://schemas.openxmlformats.org/drawingml/2006/main" name="Ritaglio">
  <a:themeElements>
    <a:clrScheme name="Ritaglio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Ritaglio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itagli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TM10001105[[fn=Ritaglio]]</Template>
  <TotalTime>117</TotalTime>
  <Words>206</Words>
  <Application>Microsoft Office PowerPoint</Application>
  <PresentationFormat>Widescreen</PresentationFormat>
  <Paragraphs>47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0" baseType="lpstr">
      <vt:lpstr>Arial</vt:lpstr>
      <vt:lpstr>Franklin Gothic Book</vt:lpstr>
      <vt:lpstr>Ritaglio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cocilova</dc:creator>
  <cp:lastModifiedBy>marco cocilova</cp:lastModifiedBy>
  <cp:revision>18</cp:revision>
  <dcterms:created xsi:type="dcterms:W3CDTF">2026-02-15T12:50:58Z</dcterms:created>
  <dcterms:modified xsi:type="dcterms:W3CDTF">2026-02-19T08:08:29Z</dcterms:modified>
</cp:coreProperties>
</file>